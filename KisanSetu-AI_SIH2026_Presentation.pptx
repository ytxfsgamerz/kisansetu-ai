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ptos Bold" panose="020B0604020202020204" charset="0"/>
      <p:regular r:id="rId8"/>
    </p:embeddedFont>
    <p:embeddedFont>
      <p:font typeface="Aptos Italics" panose="020B0604020202020204" charset="0"/>
      <p:regular r:id="rId9"/>
    </p:embeddedFont>
    <p:embeddedFont>
      <p:font typeface="Arial Bold" panose="020B0704020202020204" pitchFamily="34" charset="0"/>
      <p:bold r:id="rId10"/>
    </p:embeddedFont>
    <p:embeddedFont>
      <p:font typeface="Garamond Bold" panose="02020804030307010803" pitchFamily="18" charset="0"/>
      <p:bold r:id="rId11"/>
    </p:embeddedFont>
    <p:embeddedFont>
      <p:font typeface="Times New Roman Bold" panose="02020803070505020304" pitchFamily="18" charset="0"/>
      <p:bold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consumeraffairs.gov.in/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fci.gov.in/admin/storage/ckeditor/Action_plan_RMS_2023-24_1705061814.pdf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fci.gov.in/fci-storage/storage/app/uploads/693a5c5db48ed1765432413.pdf" TargetMode="External"/><Relationship Id="rId5" Type="http://schemas.openxmlformats.org/officeDocument/2006/relationships/hyperlink" Target="https://enam.gov.in/" TargetMode="External"/><Relationship Id="rId10" Type="http://schemas.openxmlformats.org/officeDocument/2006/relationships/hyperlink" Target="https://kisansetu-sih.vercel.app/" TargetMode="External"/><Relationship Id="rId4" Type="http://schemas.openxmlformats.org/officeDocument/2006/relationships/hyperlink" Target="https://www.sih.gov.in/" TargetMode="External"/><Relationship Id="rId9" Type="http://schemas.openxmlformats.org/officeDocument/2006/relationships/hyperlink" Target="https://github.com/YTxFSGAMERz/KisanSetu-A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9475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959969" y="990067"/>
            <a:ext cx="12618720" cy="256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endParaRPr/>
          </a:p>
          <a:p>
            <a:pPr algn="ctr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96929" y="-790137"/>
            <a:ext cx="15544800" cy="3114675"/>
            <a:chOff x="0" y="0"/>
            <a:chExt cx="20726400" cy="415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246" b="-4724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8369" y="3131820"/>
            <a:ext cx="8703945" cy="6222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endParaRPr dirty="0"/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SIH26032</a:t>
            </a:r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 :- Long farmer wait times &amp; procurement status uncertainty</a:t>
            </a:r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Smart Automation</a:t>
            </a:r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SIH2026-APP-7729</a:t>
            </a:r>
          </a:p>
          <a:p>
            <a:pPr marL="651510" lvl="1" indent="-325755" algn="just">
              <a:lnSpc>
                <a:spcPts val="5616"/>
              </a:lnSpc>
              <a:buFont typeface="Arial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sz="3600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KisanSetu</a:t>
            </a:r>
            <a:r>
              <a:rPr lang="en-US" sz="36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AI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440" y="26860"/>
            <a:ext cx="1647063" cy="961263"/>
            <a:chOff x="0" y="0"/>
            <a:chExt cx="2196084" cy="12816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6084" cy="1281684"/>
            </a:xfrm>
            <a:custGeom>
              <a:avLst/>
              <a:gdLst/>
              <a:ahLst/>
              <a:cxnLst/>
              <a:rect l="l" t="t" r="r" b="b"/>
              <a:pathLst>
                <a:path w="2196084" h="1281684">
                  <a:moveTo>
                    <a:pt x="0" y="640842"/>
                  </a:moveTo>
                  <a:cubicBezTo>
                    <a:pt x="0" y="286893"/>
                    <a:pt x="491617" y="0"/>
                    <a:pt x="1098042" y="0"/>
                  </a:cubicBezTo>
                  <a:cubicBezTo>
                    <a:pt x="1704467" y="0"/>
                    <a:pt x="2196084" y="286893"/>
                    <a:pt x="2196084" y="640842"/>
                  </a:cubicBezTo>
                  <a:cubicBezTo>
                    <a:pt x="2196084" y="994791"/>
                    <a:pt x="1704467" y="1281684"/>
                    <a:pt x="1098042" y="1281684"/>
                  </a:cubicBezTo>
                  <a:cubicBezTo>
                    <a:pt x="491617" y="1281684"/>
                    <a:pt x="0" y="994791"/>
                    <a:pt x="0" y="64084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E5E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9728" y="219456"/>
            <a:ext cx="1577340" cy="617220"/>
            <a:chOff x="0" y="0"/>
            <a:chExt cx="2103120" cy="822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3120" cy="822960"/>
            </a:xfrm>
            <a:custGeom>
              <a:avLst/>
              <a:gdLst/>
              <a:ahLst/>
              <a:cxnLst/>
              <a:rect l="l" t="t" r="r" b="b"/>
              <a:pathLst>
                <a:path w="2103120" h="822960">
                  <a:moveTo>
                    <a:pt x="0" y="0"/>
                  </a:moveTo>
                  <a:lnTo>
                    <a:pt x="2103120" y="0"/>
                  </a:lnTo>
                  <a:lnTo>
                    <a:pt x="21031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5" r="-20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103120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KisanSetu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9573768"/>
            <a:ext cx="18288000" cy="713232"/>
            <a:chOff x="0" y="0"/>
            <a:chExt cx="24384000" cy="95097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384000" cy="950976"/>
            </a:xfrm>
            <a:custGeom>
              <a:avLst/>
              <a:gdLst/>
              <a:ahLst/>
              <a:cxnLst/>
              <a:rect l="l" t="t" r="r" b="b"/>
              <a:pathLst>
                <a:path w="24384000" h="950976">
                  <a:moveTo>
                    <a:pt x="0" y="0"/>
                  </a:moveTo>
                  <a:lnTo>
                    <a:pt x="24384000" y="0"/>
                  </a:lnTo>
                  <a:lnTo>
                    <a:pt x="24384000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C70B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06440" y="9760839"/>
            <a:ext cx="6629400" cy="16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 - KisanSetu AI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396460" y="9723882"/>
            <a:ext cx="388620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342900" y="1440180"/>
            <a:ext cx="5623560" cy="7708392"/>
            <a:chOff x="0" y="0"/>
            <a:chExt cx="7498080" cy="1027785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498080" cy="10277856"/>
            </a:xfrm>
            <a:custGeom>
              <a:avLst/>
              <a:gdLst/>
              <a:ahLst/>
              <a:cxnLst/>
              <a:rect l="l" t="t" r="r" b="b"/>
              <a:pathLst>
                <a:path w="7498080" h="10277856">
                  <a:moveTo>
                    <a:pt x="0" y="1249680"/>
                  </a:moveTo>
                  <a:cubicBezTo>
                    <a:pt x="0" y="559562"/>
                    <a:pt x="559562" y="0"/>
                    <a:pt x="1249680" y="0"/>
                  </a:cubicBezTo>
                  <a:lnTo>
                    <a:pt x="6248400" y="0"/>
                  </a:lnTo>
                  <a:cubicBezTo>
                    <a:pt x="6938645" y="0"/>
                    <a:pt x="7498080" y="559562"/>
                    <a:pt x="7498080" y="1249680"/>
                  </a:cubicBezTo>
                  <a:lnTo>
                    <a:pt x="7498080" y="9028176"/>
                  </a:lnTo>
                  <a:cubicBezTo>
                    <a:pt x="7498080" y="9718421"/>
                    <a:pt x="6938518" y="10277856"/>
                    <a:pt x="6248400" y="10277856"/>
                  </a:cubicBezTo>
                  <a:lnTo>
                    <a:pt x="1249680" y="10277856"/>
                  </a:lnTo>
                  <a:cubicBezTo>
                    <a:pt x="559435" y="10277856"/>
                    <a:pt x="0" y="9718294"/>
                    <a:pt x="0" y="9028176"/>
                  </a:cubicBezTo>
                  <a:close/>
                </a:path>
              </a:pathLst>
            </a:custGeom>
            <a:solidFill>
              <a:srgbClr val="FFCDAB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04088" y="1809750"/>
            <a:ext cx="4914900" cy="91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307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One Digital Bridge for Every Mandi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4088" y="2779395"/>
            <a:ext cx="4873752" cy="5802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Smart Slot Booking: </a:t>
            </a: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Farmers select centre, crop and time; the engine ranks less-congested options.</a:t>
            </a:r>
          </a:p>
          <a:p>
            <a:pPr algn="l">
              <a:lnSpc>
                <a:spcPts val="2412"/>
              </a:lnSpc>
            </a:pP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Digital Token: </a:t>
            </a: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A token replaces physical queue uncertainty and can be tracked remotely.</a:t>
            </a:r>
          </a:p>
          <a:p>
            <a:pPr algn="l">
              <a:lnSpc>
                <a:spcPts val="2412"/>
              </a:lnSpc>
            </a:pP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Live Queue: </a:t>
            </a: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WebSockets synchronize farmer and officer screens with current token status.</a:t>
            </a:r>
          </a:p>
          <a:p>
            <a:pPr algn="l">
              <a:lnSpc>
                <a:spcPts val="2412"/>
              </a:lnSpc>
            </a:pP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Digital Procurement: </a:t>
            </a: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Officer grading, procurement records and receipts stay in one workflow.</a:t>
            </a:r>
          </a:p>
          <a:p>
            <a:pPr algn="l">
              <a:lnSpc>
                <a:spcPts val="2412"/>
              </a:lnSpc>
            </a:pP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Payment Visibility: </a:t>
            </a:r>
            <a:r>
              <a:rPr lang="en-US" sz="201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Farmers can track procurement and payment status without repeated visits.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69380" y="1554480"/>
            <a:ext cx="5509260" cy="484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3150" b="1">
                <a:solidFill>
                  <a:srgbClr val="19232D"/>
                </a:solidFill>
                <a:latin typeface="Aptos Bold"/>
                <a:ea typeface="Aptos Bold"/>
                <a:cs typeface="Aptos Bold"/>
                <a:sym typeface="Aptos Bold"/>
              </a:rPr>
              <a:t>END-TO-END WORKFLOW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41580" y="1554480"/>
            <a:ext cx="4960620" cy="484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3150" b="1">
                <a:solidFill>
                  <a:srgbClr val="19232D"/>
                </a:solidFill>
                <a:latin typeface="Aptos Bold"/>
                <a:ea typeface="Aptos Bold"/>
                <a:cs typeface="Aptos Bold"/>
                <a:sym typeface="Aptos Bold"/>
              </a:rPr>
              <a:t>SYSTEM FLOW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459664" y="2344864"/>
            <a:ext cx="1647063" cy="1427607"/>
            <a:chOff x="0" y="0"/>
            <a:chExt cx="2196084" cy="190347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Farmer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Login / Register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379904" y="2344864"/>
            <a:ext cx="1647063" cy="1427607"/>
            <a:chOff x="0" y="0"/>
            <a:chExt cx="2196084" cy="19034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Slot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AI-ranked booking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300145" y="2344864"/>
            <a:ext cx="1647063" cy="1427607"/>
            <a:chOff x="0" y="0"/>
            <a:chExt cx="2196084" cy="190347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Token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dirty="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Digital queue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59664" y="4854892"/>
            <a:ext cx="1647063" cy="1427607"/>
            <a:chOff x="0" y="0"/>
            <a:chExt cx="2196084" cy="19034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Centre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Live call + grading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379905" y="4854892"/>
            <a:ext cx="1948818" cy="1427607"/>
            <a:chOff x="0" y="0"/>
            <a:chExt cx="2196084" cy="19034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Procurement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Receipt + record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719056" y="4854892"/>
            <a:ext cx="1647063" cy="1427607"/>
            <a:chOff x="0" y="0"/>
            <a:chExt cx="2196084" cy="19034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196084" cy="1903476"/>
            </a:xfrm>
            <a:custGeom>
              <a:avLst/>
              <a:gdLst/>
              <a:ahLst/>
              <a:cxnLst/>
              <a:rect l="l" t="t" r="r" b="b"/>
              <a:pathLst>
                <a:path w="2196084" h="1903476">
                  <a:moveTo>
                    <a:pt x="0" y="317246"/>
                  </a:moveTo>
                  <a:cubicBezTo>
                    <a:pt x="0" y="141986"/>
                    <a:pt x="141986" y="0"/>
                    <a:pt x="317246" y="0"/>
                  </a:cubicBezTo>
                  <a:lnTo>
                    <a:pt x="1878838" y="0"/>
                  </a:lnTo>
                  <a:cubicBezTo>
                    <a:pt x="2054098" y="0"/>
                    <a:pt x="2196084" y="141986"/>
                    <a:pt x="2196084" y="317246"/>
                  </a:cubicBezTo>
                  <a:lnTo>
                    <a:pt x="2196084" y="1586230"/>
                  </a:lnTo>
                  <a:cubicBezTo>
                    <a:pt x="2196084" y="1761490"/>
                    <a:pt x="2054098" y="1903476"/>
                    <a:pt x="1878838" y="1903476"/>
                  </a:cubicBezTo>
                  <a:lnTo>
                    <a:pt x="317246" y="1903476"/>
                  </a:lnTo>
                  <a:cubicBezTo>
                    <a:pt x="141986" y="1903476"/>
                    <a:pt x="0" y="1761490"/>
                    <a:pt x="0" y="1586230"/>
                  </a:cubicBezTo>
                  <a:close/>
                </a:path>
              </a:pathLst>
            </a:custGeom>
            <a:solidFill>
              <a:srgbClr val="F4F7FA"/>
            </a:solidFill>
            <a:ln w="28575" cap="sq">
              <a:solidFill>
                <a:srgbClr val="1F3D5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2196084" cy="1903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Payment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dirty="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Status tracking</a:t>
              </a:r>
            </a:p>
          </p:txBody>
        </p:sp>
      </p:grpSp>
      <p:sp>
        <p:nvSpPr>
          <p:cNvPr id="35" name="AutoShape 35"/>
          <p:cNvSpPr/>
          <p:nvPr/>
        </p:nvSpPr>
        <p:spPr>
          <a:xfrm rot="296640">
            <a:off x="8077533" y="3049143"/>
            <a:ext cx="331565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" name="AutoShape 36"/>
          <p:cNvSpPr/>
          <p:nvPr/>
        </p:nvSpPr>
        <p:spPr>
          <a:xfrm rot="296640">
            <a:off x="9997773" y="3049143"/>
            <a:ext cx="331565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" name="AutoShape 37"/>
          <p:cNvSpPr/>
          <p:nvPr/>
        </p:nvSpPr>
        <p:spPr>
          <a:xfrm rot="9815280">
            <a:off x="7186746" y="4304157"/>
            <a:ext cx="4033390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8" name="AutoShape 38"/>
          <p:cNvSpPr/>
          <p:nvPr/>
        </p:nvSpPr>
        <p:spPr>
          <a:xfrm rot="296640">
            <a:off x="8077533" y="5559171"/>
            <a:ext cx="331565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9" name="AutoShape 39"/>
          <p:cNvSpPr/>
          <p:nvPr/>
        </p:nvSpPr>
        <p:spPr>
          <a:xfrm rot="296640" flipV="1">
            <a:off x="10328216" y="5556585"/>
            <a:ext cx="391345" cy="5171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0" name="Group 40"/>
          <p:cNvGrpSpPr/>
          <p:nvPr/>
        </p:nvGrpSpPr>
        <p:grpSpPr>
          <a:xfrm>
            <a:off x="12947332" y="2344864"/>
            <a:ext cx="4280535" cy="988695"/>
            <a:chOff x="0" y="0"/>
            <a:chExt cx="5707380" cy="131826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Users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Farmer / Officer / Admin</a:t>
              </a:r>
            </a:p>
          </p:txBody>
        </p:sp>
      </p:grpSp>
      <p:sp>
        <p:nvSpPr>
          <p:cNvPr id="43" name="AutoShape 43"/>
          <p:cNvSpPr/>
          <p:nvPr/>
        </p:nvSpPr>
        <p:spPr>
          <a:xfrm rot="5005680">
            <a:off x="14962765" y="3419475"/>
            <a:ext cx="249669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4" name="Group 44"/>
          <p:cNvGrpSpPr/>
          <p:nvPr/>
        </p:nvGrpSpPr>
        <p:grpSpPr>
          <a:xfrm>
            <a:off x="12947332" y="3524440"/>
            <a:ext cx="4280535" cy="988695"/>
            <a:chOff x="0" y="0"/>
            <a:chExt cx="5707380" cy="13182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Application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Next.js Web App</a:t>
              </a:r>
            </a:p>
          </p:txBody>
        </p:sp>
      </p:grpSp>
      <p:sp>
        <p:nvSpPr>
          <p:cNvPr id="47" name="AutoShape 47"/>
          <p:cNvSpPr/>
          <p:nvPr/>
        </p:nvSpPr>
        <p:spPr>
          <a:xfrm rot="5005680">
            <a:off x="14962765" y="4599051"/>
            <a:ext cx="249669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8" name="Group 48"/>
          <p:cNvGrpSpPr/>
          <p:nvPr/>
        </p:nvGrpSpPr>
        <p:grpSpPr>
          <a:xfrm>
            <a:off x="12947332" y="4704016"/>
            <a:ext cx="4280535" cy="988695"/>
            <a:chOff x="0" y="0"/>
            <a:chExt cx="5707380" cy="131826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API &amp; Real-Time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FastAPI REST + WebSocket</a:t>
              </a:r>
            </a:p>
          </p:txBody>
        </p:sp>
      </p:grpSp>
      <p:sp>
        <p:nvSpPr>
          <p:cNvPr id="51" name="AutoShape 51"/>
          <p:cNvSpPr/>
          <p:nvPr/>
        </p:nvSpPr>
        <p:spPr>
          <a:xfrm rot="5005680">
            <a:off x="14962765" y="5778627"/>
            <a:ext cx="249669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2" name="Group 52"/>
          <p:cNvGrpSpPr/>
          <p:nvPr/>
        </p:nvGrpSpPr>
        <p:grpSpPr>
          <a:xfrm>
            <a:off x="12947332" y="5883592"/>
            <a:ext cx="4280535" cy="988695"/>
            <a:chOff x="0" y="0"/>
            <a:chExt cx="5707380" cy="131826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Smart Operations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Smart Engine + Queue</a:t>
              </a:r>
            </a:p>
          </p:txBody>
        </p:sp>
      </p:grpSp>
      <p:sp>
        <p:nvSpPr>
          <p:cNvPr id="55" name="AutoShape 55"/>
          <p:cNvSpPr/>
          <p:nvPr/>
        </p:nvSpPr>
        <p:spPr>
          <a:xfrm rot="5005680">
            <a:off x="14962765" y="6958203"/>
            <a:ext cx="249669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6" name="Group 56"/>
          <p:cNvGrpSpPr/>
          <p:nvPr/>
        </p:nvGrpSpPr>
        <p:grpSpPr>
          <a:xfrm>
            <a:off x="12947332" y="7063168"/>
            <a:ext cx="4280535" cy="988695"/>
            <a:chOff x="0" y="0"/>
            <a:chExt cx="5707380" cy="131826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Data Layer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PostgreSQL / Supabase</a:t>
              </a:r>
            </a:p>
          </p:txBody>
        </p:sp>
      </p:grpSp>
      <p:sp>
        <p:nvSpPr>
          <p:cNvPr id="59" name="AutoShape 59"/>
          <p:cNvSpPr/>
          <p:nvPr/>
        </p:nvSpPr>
        <p:spPr>
          <a:xfrm rot="5005680">
            <a:off x="14962765" y="8137779"/>
            <a:ext cx="249669" cy="0"/>
          </a:xfrm>
          <a:prstGeom prst="line">
            <a:avLst/>
          </a:prstGeom>
          <a:ln w="19050" cap="rnd">
            <a:solidFill>
              <a:srgbClr val="1F3D5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0" name="Group 60"/>
          <p:cNvGrpSpPr/>
          <p:nvPr/>
        </p:nvGrpSpPr>
        <p:grpSpPr>
          <a:xfrm>
            <a:off x="12947332" y="8242744"/>
            <a:ext cx="4280535" cy="988695"/>
            <a:chOff x="0" y="0"/>
            <a:chExt cx="5707380" cy="13182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5707380" cy="1318260"/>
            </a:xfrm>
            <a:custGeom>
              <a:avLst/>
              <a:gdLst/>
              <a:ahLst/>
              <a:cxnLst/>
              <a:rect l="l" t="t" r="r" b="b"/>
              <a:pathLst>
                <a:path w="5707380" h="1318260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5487670" y="0"/>
                  </a:lnTo>
                  <a:cubicBezTo>
                    <a:pt x="5608955" y="0"/>
                    <a:pt x="5707380" y="98425"/>
                    <a:pt x="5707380" y="219710"/>
                  </a:cubicBezTo>
                  <a:lnTo>
                    <a:pt x="5707380" y="1098550"/>
                  </a:lnTo>
                  <a:cubicBezTo>
                    <a:pt x="5707380" y="1219835"/>
                    <a:pt x="5608955" y="1318260"/>
                    <a:pt x="5487670" y="1318260"/>
                  </a:cubicBezTo>
                  <a:lnTo>
                    <a:pt x="219710" y="1318260"/>
                  </a:lnTo>
                  <a:cubicBezTo>
                    <a:pt x="98425" y="1318260"/>
                    <a:pt x="0" y="1219835"/>
                    <a:pt x="0" y="109855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34659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5707380" cy="1327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19232D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Insights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9232D"/>
                  </a:solidFill>
                  <a:latin typeface="Aptos"/>
                  <a:ea typeface="Aptos"/>
                  <a:cs typeface="Aptos"/>
                  <a:sym typeface="Aptos"/>
                </a:rPr>
                <a:t>Notifications + Analytics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469380" y="7037768"/>
            <a:ext cx="5554980" cy="988696"/>
            <a:chOff x="0" y="0"/>
            <a:chExt cx="7406640" cy="1318261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020560" cy="1318261"/>
            </a:xfrm>
            <a:custGeom>
              <a:avLst/>
              <a:gdLst/>
              <a:ahLst/>
              <a:cxnLst/>
              <a:rect l="l" t="t" r="r" b="b"/>
              <a:pathLst>
                <a:path w="7406640" h="1188720">
                  <a:moveTo>
                    <a:pt x="0" y="0"/>
                  </a:moveTo>
                  <a:lnTo>
                    <a:pt x="7406640" y="0"/>
                  </a:lnTo>
                  <a:lnTo>
                    <a:pt x="740664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406" b="-714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0"/>
              <a:ext cx="7406640" cy="11887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2400" i="1" dirty="0">
                  <a:solidFill>
                    <a:srgbClr val="19232D"/>
                  </a:solidFill>
                  <a:latin typeface="Aptos Italics"/>
                  <a:ea typeface="Aptos Italics"/>
                  <a:cs typeface="Aptos Italics"/>
                  <a:sym typeface="Aptos Italics"/>
                </a:rPr>
                <a:t>Login → ranked slot → token → live queue → grading → procurement → payment</a:t>
              </a:r>
            </a:p>
          </p:txBody>
        </p:sp>
      </p:grpSp>
      <p:sp>
        <p:nvSpPr>
          <p:cNvPr id="66" name="TextBox 66"/>
          <p:cNvSpPr txBox="1"/>
          <p:nvPr/>
        </p:nvSpPr>
        <p:spPr>
          <a:xfrm>
            <a:off x="13053060" y="9541383"/>
            <a:ext cx="4069080" cy="302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i="1">
                <a:solidFill>
                  <a:srgbClr val="346591"/>
                </a:solidFill>
                <a:latin typeface="Aptos Italics"/>
                <a:ea typeface="Aptos Italics"/>
                <a:cs typeface="Aptos Italics"/>
                <a:sym typeface="Aptos Italics"/>
              </a:rPr>
              <a:t>Classic layered system architecture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15430500" y="27432"/>
            <a:ext cx="2674620" cy="1261872"/>
            <a:chOff x="0" y="0"/>
            <a:chExt cx="3566160" cy="1682496"/>
          </a:xfrm>
        </p:grpSpPr>
        <p:sp>
          <p:nvSpPr>
            <p:cNvPr id="68" name="Freeform 68" descr="image.png"/>
            <p:cNvSpPr/>
            <p:nvPr/>
          </p:nvSpPr>
          <p:spPr>
            <a:xfrm>
              <a:off x="0" y="0"/>
              <a:ext cx="3566160" cy="1682496"/>
            </a:xfrm>
            <a:custGeom>
              <a:avLst/>
              <a:gdLst/>
              <a:ahLst/>
              <a:cxnLst/>
              <a:rect l="l" t="t" r="r" b="b"/>
              <a:pathLst>
                <a:path w="3566160" h="1682496">
                  <a:moveTo>
                    <a:pt x="0" y="0"/>
                  </a:moveTo>
                  <a:lnTo>
                    <a:pt x="3566160" y="0"/>
                  </a:lnTo>
                  <a:lnTo>
                    <a:pt x="3566160" y="1682496"/>
                  </a:lnTo>
                  <a:lnTo>
                    <a:pt x="0" y="1682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0" b="-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6"/>
          <p:cNvSpPr/>
          <p:nvPr/>
        </p:nvSpPr>
        <p:spPr>
          <a:xfrm>
            <a:off x="7447217" y="891538"/>
            <a:ext cx="8097583" cy="9258301"/>
          </a:xfrm>
          <a:custGeom>
            <a:avLst/>
            <a:gdLst/>
            <a:ahLst/>
            <a:cxnLst/>
            <a:rect l="l" t="t" r="r" b="b"/>
            <a:pathLst>
              <a:path w="5931147" h="7255764">
                <a:moveTo>
                  <a:pt x="0" y="0"/>
                </a:moveTo>
                <a:lnTo>
                  <a:pt x="5931147" y="0"/>
                </a:lnTo>
                <a:lnTo>
                  <a:pt x="5931147" y="7255764"/>
                </a:lnTo>
                <a:lnTo>
                  <a:pt x="0" y="7255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31" r="-1213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" name="Group 2"/>
          <p:cNvGrpSpPr/>
          <p:nvPr/>
        </p:nvGrpSpPr>
        <p:grpSpPr>
          <a:xfrm>
            <a:off x="95440" y="26860"/>
            <a:ext cx="1647063" cy="961263"/>
            <a:chOff x="0" y="0"/>
            <a:chExt cx="2196084" cy="12816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6084" cy="1281684"/>
            </a:xfrm>
            <a:custGeom>
              <a:avLst/>
              <a:gdLst/>
              <a:ahLst/>
              <a:cxnLst/>
              <a:rect l="l" t="t" r="r" b="b"/>
              <a:pathLst>
                <a:path w="2196084" h="1281684">
                  <a:moveTo>
                    <a:pt x="0" y="640842"/>
                  </a:moveTo>
                  <a:cubicBezTo>
                    <a:pt x="0" y="286893"/>
                    <a:pt x="491617" y="0"/>
                    <a:pt x="1098042" y="0"/>
                  </a:cubicBezTo>
                  <a:cubicBezTo>
                    <a:pt x="1704467" y="0"/>
                    <a:pt x="2196084" y="286893"/>
                    <a:pt x="2196084" y="640842"/>
                  </a:cubicBezTo>
                  <a:cubicBezTo>
                    <a:pt x="2196084" y="994791"/>
                    <a:pt x="1704467" y="1281684"/>
                    <a:pt x="1098042" y="1281684"/>
                  </a:cubicBezTo>
                  <a:cubicBezTo>
                    <a:pt x="491617" y="1281684"/>
                    <a:pt x="0" y="994791"/>
                    <a:pt x="0" y="64084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E5E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9728" y="219456"/>
            <a:ext cx="1577340" cy="617220"/>
            <a:chOff x="0" y="0"/>
            <a:chExt cx="2103120" cy="822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3120" cy="822960"/>
            </a:xfrm>
            <a:custGeom>
              <a:avLst/>
              <a:gdLst/>
              <a:ahLst/>
              <a:cxnLst/>
              <a:rect l="l" t="t" r="r" b="b"/>
              <a:pathLst>
                <a:path w="2103120" h="822960">
                  <a:moveTo>
                    <a:pt x="0" y="0"/>
                  </a:moveTo>
                  <a:lnTo>
                    <a:pt x="2103120" y="0"/>
                  </a:lnTo>
                  <a:lnTo>
                    <a:pt x="21031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05" r="-20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103120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KisanSetu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017520" y="137160"/>
            <a:ext cx="12070080" cy="754380"/>
            <a:chOff x="0" y="0"/>
            <a:chExt cx="160934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093439" cy="1005840"/>
            </a:xfrm>
            <a:custGeom>
              <a:avLst/>
              <a:gdLst/>
              <a:ahLst/>
              <a:cxnLst/>
              <a:rect l="l" t="t" r="r" b="b"/>
              <a:pathLst>
                <a:path w="16093439" h="1005840">
                  <a:moveTo>
                    <a:pt x="0" y="0"/>
                  </a:moveTo>
                  <a:lnTo>
                    <a:pt x="16093439" y="0"/>
                  </a:lnTo>
                  <a:lnTo>
                    <a:pt x="16093439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1760" b="-2617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160934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80"/>
                </a:lnSpc>
              </a:pPr>
              <a:r>
                <a:rPr lang="en-US" sz="4650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TECHNICAL APPROACH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9573768"/>
            <a:ext cx="18288000" cy="713232"/>
            <a:chOff x="0" y="0"/>
            <a:chExt cx="2438400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950976"/>
            </a:xfrm>
            <a:custGeom>
              <a:avLst/>
              <a:gdLst/>
              <a:ahLst/>
              <a:cxnLst/>
              <a:rect l="l" t="t" r="r" b="b"/>
              <a:pathLst>
                <a:path w="24384000" h="950976">
                  <a:moveTo>
                    <a:pt x="0" y="0"/>
                  </a:moveTo>
                  <a:lnTo>
                    <a:pt x="24384000" y="0"/>
                  </a:lnTo>
                  <a:lnTo>
                    <a:pt x="24384000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C70B5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2900" y="1399032"/>
            <a:ext cx="5829300" cy="8023860"/>
            <a:chOff x="0" y="0"/>
            <a:chExt cx="7772400" cy="106984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772400" cy="10698480"/>
            </a:xfrm>
            <a:custGeom>
              <a:avLst/>
              <a:gdLst/>
              <a:ahLst/>
              <a:cxnLst/>
              <a:rect l="l" t="t" r="r" b="b"/>
              <a:pathLst>
                <a:path w="7772400" h="10698480">
                  <a:moveTo>
                    <a:pt x="0" y="1295400"/>
                  </a:moveTo>
                  <a:cubicBezTo>
                    <a:pt x="0" y="580009"/>
                    <a:pt x="580009" y="0"/>
                    <a:pt x="1295400" y="0"/>
                  </a:cubicBezTo>
                  <a:lnTo>
                    <a:pt x="6477000" y="0"/>
                  </a:lnTo>
                  <a:cubicBezTo>
                    <a:pt x="7192391" y="0"/>
                    <a:pt x="7772400" y="580009"/>
                    <a:pt x="7772400" y="1295400"/>
                  </a:cubicBezTo>
                  <a:lnTo>
                    <a:pt x="7772400" y="9403080"/>
                  </a:lnTo>
                  <a:cubicBezTo>
                    <a:pt x="7772400" y="10118472"/>
                    <a:pt x="7192391" y="10698480"/>
                    <a:pt x="6477000" y="10698480"/>
                  </a:cubicBezTo>
                  <a:lnTo>
                    <a:pt x="1295400" y="10698480"/>
                  </a:lnTo>
                  <a:cubicBezTo>
                    <a:pt x="580009" y="10698480"/>
                    <a:pt x="0" y="10118472"/>
                    <a:pt x="0" y="9403080"/>
                  </a:cubicBezTo>
                  <a:close/>
                </a:path>
              </a:pathLst>
            </a:custGeom>
            <a:solidFill>
              <a:srgbClr val="FFCDAB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5430500" y="27432"/>
            <a:ext cx="2674620" cy="1261872"/>
            <a:chOff x="0" y="0"/>
            <a:chExt cx="3566160" cy="1682496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3566160" cy="1682496"/>
            </a:xfrm>
            <a:custGeom>
              <a:avLst/>
              <a:gdLst/>
              <a:ahLst/>
              <a:cxnLst/>
              <a:rect l="l" t="t" r="r" b="b"/>
              <a:pathLst>
                <a:path w="3566160" h="1682496">
                  <a:moveTo>
                    <a:pt x="0" y="0"/>
                  </a:moveTo>
                  <a:lnTo>
                    <a:pt x="3566160" y="0"/>
                  </a:lnTo>
                  <a:lnTo>
                    <a:pt x="3566160" y="1682496"/>
                  </a:lnTo>
                  <a:lnTo>
                    <a:pt x="0" y="1682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0" b="-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5806440" y="9760839"/>
            <a:ext cx="6629400" cy="16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 - </a:t>
            </a:r>
            <a:r>
              <a:rPr lang="en-US" sz="1575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KisanSetu</a:t>
            </a:r>
            <a:r>
              <a:rPr lang="en-US" sz="1575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AI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396460" y="9723882"/>
            <a:ext cx="388620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4088" y="1700022"/>
            <a:ext cx="4983480" cy="393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System Design Explanation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1520" y="2459355"/>
            <a:ext cx="4928616" cy="6195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Frontend: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Next.js 16, TypeScript and Tailwind CSS.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Backend: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FastAPI, Python 3.13, async SQLAlchemy 2.0 and Pydantic v2.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Real-time layer: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WebSockets for queue position, token calls and alerts.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AI / Smart Engine: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Explainable wait-time and congestion scoring ranks open slots.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Data layer: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PostgreSQL / Supabase for production, SQLite for local development.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Security: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JWT-based role access for Farmer, Officer and Admin.</a:t>
            </a:r>
          </a:p>
          <a:p>
            <a:pPr algn="l">
              <a:lnSpc>
                <a:spcPts val="2592"/>
              </a:lnSpc>
            </a:pP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16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Deployment: </a:t>
            </a:r>
            <a:r>
              <a:rPr lang="en-US" sz="216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Docker Compose with a Vercel-hosted frontend.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440" y="26860"/>
            <a:ext cx="1647063" cy="961263"/>
            <a:chOff x="0" y="0"/>
            <a:chExt cx="2196084" cy="12816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6084" cy="1281684"/>
            </a:xfrm>
            <a:custGeom>
              <a:avLst/>
              <a:gdLst/>
              <a:ahLst/>
              <a:cxnLst/>
              <a:rect l="l" t="t" r="r" b="b"/>
              <a:pathLst>
                <a:path w="2196084" h="1281684">
                  <a:moveTo>
                    <a:pt x="0" y="640842"/>
                  </a:moveTo>
                  <a:cubicBezTo>
                    <a:pt x="0" y="286893"/>
                    <a:pt x="491617" y="0"/>
                    <a:pt x="1098042" y="0"/>
                  </a:cubicBezTo>
                  <a:cubicBezTo>
                    <a:pt x="1704467" y="0"/>
                    <a:pt x="2196084" y="286893"/>
                    <a:pt x="2196084" y="640842"/>
                  </a:cubicBezTo>
                  <a:cubicBezTo>
                    <a:pt x="2196084" y="994791"/>
                    <a:pt x="1704467" y="1281684"/>
                    <a:pt x="1098042" y="1281684"/>
                  </a:cubicBezTo>
                  <a:cubicBezTo>
                    <a:pt x="491617" y="1281684"/>
                    <a:pt x="0" y="994791"/>
                    <a:pt x="0" y="64084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E5E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9728" y="219456"/>
            <a:ext cx="1577340" cy="617220"/>
            <a:chOff x="0" y="0"/>
            <a:chExt cx="2103120" cy="822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3120" cy="822960"/>
            </a:xfrm>
            <a:custGeom>
              <a:avLst/>
              <a:gdLst/>
              <a:ahLst/>
              <a:cxnLst/>
              <a:rect l="l" t="t" r="r" b="b"/>
              <a:pathLst>
                <a:path w="2103120" h="822960">
                  <a:moveTo>
                    <a:pt x="0" y="0"/>
                  </a:moveTo>
                  <a:lnTo>
                    <a:pt x="2103120" y="0"/>
                  </a:lnTo>
                  <a:lnTo>
                    <a:pt x="21031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5" r="-20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103120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KisanSetu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017520" y="137160"/>
            <a:ext cx="12070080" cy="754380"/>
            <a:chOff x="0" y="0"/>
            <a:chExt cx="160934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093439" cy="1005840"/>
            </a:xfrm>
            <a:custGeom>
              <a:avLst/>
              <a:gdLst/>
              <a:ahLst/>
              <a:cxnLst/>
              <a:rect l="l" t="t" r="r" b="b"/>
              <a:pathLst>
                <a:path w="16093439" h="1005840">
                  <a:moveTo>
                    <a:pt x="0" y="0"/>
                  </a:moveTo>
                  <a:lnTo>
                    <a:pt x="16093439" y="0"/>
                  </a:lnTo>
                  <a:lnTo>
                    <a:pt x="16093439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1760" b="-2617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160934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80"/>
                </a:lnSpc>
              </a:pPr>
              <a:r>
                <a:rPr lang="en-US" sz="4650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FEASIBILITY AND VIABILITY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430500" y="27432"/>
            <a:ext cx="2674620" cy="1261872"/>
            <a:chOff x="0" y="0"/>
            <a:chExt cx="3566160" cy="1682496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3566160" cy="1682496"/>
            </a:xfrm>
            <a:custGeom>
              <a:avLst/>
              <a:gdLst/>
              <a:ahLst/>
              <a:cxnLst/>
              <a:rect l="l" t="t" r="r" b="b"/>
              <a:pathLst>
                <a:path w="3566160" h="1682496">
                  <a:moveTo>
                    <a:pt x="0" y="0"/>
                  </a:moveTo>
                  <a:lnTo>
                    <a:pt x="3566160" y="0"/>
                  </a:lnTo>
                  <a:lnTo>
                    <a:pt x="3566160" y="1682496"/>
                  </a:lnTo>
                  <a:lnTo>
                    <a:pt x="0" y="1682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0" b="-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573768"/>
            <a:ext cx="18288000" cy="713232"/>
            <a:chOff x="0" y="0"/>
            <a:chExt cx="24384000" cy="95097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950976"/>
            </a:xfrm>
            <a:custGeom>
              <a:avLst/>
              <a:gdLst/>
              <a:ahLst/>
              <a:cxnLst/>
              <a:rect l="l" t="t" r="r" b="b"/>
              <a:pathLst>
                <a:path w="24384000" h="950976">
                  <a:moveTo>
                    <a:pt x="0" y="0"/>
                  </a:moveTo>
                  <a:lnTo>
                    <a:pt x="24384000" y="0"/>
                  </a:lnTo>
                  <a:lnTo>
                    <a:pt x="24384000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C70B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06440" y="9760839"/>
            <a:ext cx="6629400" cy="16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 - KisanSetu 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396460" y="9723882"/>
            <a:ext cx="388620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342900" y="1399032"/>
            <a:ext cx="3977640" cy="713232"/>
            <a:chOff x="0" y="0"/>
            <a:chExt cx="530352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303520" cy="950976"/>
            </a:xfrm>
            <a:custGeom>
              <a:avLst/>
              <a:gdLst/>
              <a:ahLst/>
              <a:cxnLst/>
              <a:rect l="l" t="t" r="r" b="b"/>
              <a:pathLst>
                <a:path w="5303520" h="950976">
                  <a:moveTo>
                    <a:pt x="0" y="237744"/>
                  </a:moveTo>
                  <a:lnTo>
                    <a:pt x="4828032" y="237744"/>
                  </a:lnTo>
                  <a:lnTo>
                    <a:pt x="4828032" y="0"/>
                  </a:lnTo>
                  <a:lnTo>
                    <a:pt x="5303520" y="475488"/>
                  </a:lnTo>
                  <a:lnTo>
                    <a:pt x="4828032" y="950976"/>
                  </a:lnTo>
                  <a:lnTo>
                    <a:pt x="4828032" y="713232"/>
                  </a:lnTo>
                  <a:lnTo>
                    <a:pt x="0" y="713232"/>
                  </a:lnTo>
                  <a:close/>
                </a:path>
              </a:pathLst>
            </a:custGeom>
            <a:solidFill>
              <a:srgbClr val="FFCDAB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94360" y="1535430"/>
            <a:ext cx="3268980" cy="339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292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FEASIBILITY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5280660" y="1399032"/>
            <a:ext cx="12207240" cy="713232"/>
            <a:chOff x="0" y="0"/>
            <a:chExt cx="16276320" cy="95097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276321" cy="950976"/>
            </a:xfrm>
            <a:custGeom>
              <a:avLst/>
              <a:gdLst/>
              <a:ahLst/>
              <a:cxnLst/>
              <a:rect l="l" t="t" r="r" b="b"/>
              <a:pathLst>
                <a:path w="16276321" h="950976">
                  <a:moveTo>
                    <a:pt x="0" y="237744"/>
                  </a:moveTo>
                  <a:lnTo>
                    <a:pt x="15800832" y="237744"/>
                  </a:lnTo>
                  <a:lnTo>
                    <a:pt x="15800832" y="0"/>
                  </a:lnTo>
                  <a:lnTo>
                    <a:pt x="16276321" y="475488"/>
                  </a:lnTo>
                  <a:lnTo>
                    <a:pt x="15800832" y="950976"/>
                  </a:lnTo>
                  <a:lnTo>
                    <a:pt x="15800832" y="713232"/>
                  </a:lnTo>
                  <a:lnTo>
                    <a:pt x="0" y="713232"/>
                  </a:lnTo>
                  <a:close/>
                </a:path>
              </a:pathLst>
            </a:custGeom>
            <a:solidFill>
              <a:srgbClr val="D584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806440" y="1535430"/>
            <a:ext cx="10881360" cy="339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29"/>
              </a:lnSpc>
            </a:pPr>
            <a:r>
              <a:rPr lang="en-US" sz="277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CHALLENGES AND SOLUTIONS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342900" y="2359152"/>
            <a:ext cx="4457700" cy="6789420"/>
            <a:chOff x="0" y="0"/>
            <a:chExt cx="5943600" cy="90525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943600" cy="9052560"/>
            </a:xfrm>
            <a:custGeom>
              <a:avLst/>
              <a:gdLst/>
              <a:ahLst/>
              <a:cxnLst/>
              <a:rect l="l" t="t" r="r" b="b"/>
              <a:pathLst>
                <a:path w="5943600" h="9052560">
                  <a:moveTo>
                    <a:pt x="0" y="990600"/>
                  </a:moveTo>
                  <a:cubicBezTo>
                    <a:pt x="0" y="443484"/>
                    <a:pt x="443484" y="0"/>
                    <a:pt x="990600" y="0"/>
                  </a:cubicBezTo>
                  <a:lnTo>
                    <a:pt x="4953000" y="0"/>
                  </a:lnTo>
                  <a:cubicBezTo>
                    <a:pt x="5500116" y="0"/>
                    <a:pt x="5943600" y="443484"/>
                    <a:pt x="5943600" y="990600"/>
                  </a:cubicBezTo>
                  <a:lnTo>
                    <a:pt x="5943600" y="8061960"/>
                  </a:lnTo>
                  <a:cubicBezTo>
                    <a:pt x="5943600" y="8609076"/>
                    <a:pt x="5500116" y="9052560"/>
                    <a:pt x="4953000" y="9052560"/>
                  </a:cubicBezTo>
                  <a:lnTo>
                    <a:pt x="990600" y="9052560"/>
                  </a:lnTo>
                  <a:cubicBezTo>
                    <a:pt x="443484" y="9052560"/>
                    <a:pt x="0" y="8609076"/>
                    <a:pt x="0" y="8061960"/>
                  </a:cubicBezTo>
                  <a:close/>
                </a:path>
              </a:pathLst>
            </a:custGeom>
            <a:solidFill>
              <a:srgbClr val="FFCDAB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04088" y="2742438"/>
            <a:ext cx="3680460" cy="36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62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Technical Feasibility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4088" y="3263646"/>
            <a:ext cx="3721608" cy="4440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785" b="1" dirty="0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Open-source stack: </a:t>
            </a:r>
            <a:r>
              <a:rPr lang="en-US" sz="1785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FastAPI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, Next.js, PostgreSQL and </a:t>
            </a:r>
            <a:r>
              <a:rPr lang="en-US" sz="1785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WebSockets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 reduce implementation cost.</a:t>
            </a:r>
          </a:p>
          <a:p>
            <a:pPr algn="l">
              <a:lnSpc>
                <a:spcPts val="2142"/>
              </a:lnSpc>
            </a:pP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785" b="1" dirty="0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Modular backend: 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Async </a:t>
            </a:r>
            <a:r>
              <a:rPr lang="en-US" sz="1785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SQLAlchemy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 and separate routers/services keep the system maintainable.</a:t>
            </a:r>
          </a:p>
          <a:p>
            <a:pPr algn="l">
              <a:lnSpc>
                <a:spcPts val="2142"/>
              </a:lnSpc>
            </a:pP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785" b="1" dirty="0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Real-time queue: </a:t>
            </a:r>
            <a:r>
              <a:rPr lang="en-US" sz="1785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WebSockets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 support live token updates without page refresh.</a:t>
            </a:r>
          </a:p>
          <a:p>
            <a:pPr algn="l">
              <a:lnSpc>
                <a:spcPts val="2142"/>
              </a:lnSpc>
            </a:pP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785" b="1" dirty="0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Explainable engine: 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Wait-time and congestion scoring works without a large training dataset.</a:t>
            </a:r>
          </a:p>
          <a:p>
            <a:pPr algn="l">
              <a:lnSpc>
                <a:spcPts val="2142"/>
              </a:lnSpc>
            </a:pP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785" b="1" dirty="0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Deployment: 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Docker Compose and a </a:t>
            </a:r>
            <a:r>
              <a:rPr lang="en-US" sz="1785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Vercel</a:t>
            </a:r>
            <a:r>
              <a:rPr lang="en-US" sz="1785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 frontend provide a reproducible demo path.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280660" y="2359152"/>
            <a:ext cx="2811780" cy="6789420"/>
            <a:chOff x="0" y="0"/>
            <a:chExt cx="3749040" cy="9052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749040" cy="9052560"/>
            </a:xfrm>
            <a:custGeom>
              <a:avLst/>
              <a:gdLst/>
              <a:ahLst/>
              <a:cxnLst/>
              <a:rect l="l" t="t" r="r" b="b"/>
              <a:pathLst>
                <a:path w="3749040" h="9052560">
                  <a:moveTo>
                    <a:pt x="0" y="624840"/>
                  </a:moveTo>
                  <a:cubicBezTo>
                    <a:pt x="0" y="279781"/>
                    <a:pt x="279781" y="0"/>
                    <a:pt x="624840" y="0"/>
                  </a:cubicBezTo>
                  <a:lnTo>
                    <a:pt x="3124200" y="0"/>
                  </a:lnTo>
                  <a:cubicBezTo>
                    <a:pt x="3469259" y="0"/>
                    <a:pt x="3749040" y="279781"/>
                    <a:pt x="3749040" y="624840"/>
                  </a:cubicBezTo>
                  <a:lnTo>
                    <a:pt x="3749040" y="8427720"/>
                  </a:lnTo>
                  <a:cubicBezTo>
                    <a:pt x="3749040" y="8772778"/>
                    <a:pt x="3469259" y="9052560"/>
                    <a:pt x="3124200" y="9052560"/>
                  </a:cubicBezTo>
                  <a:lnTo>
                    <a:pt x="624840" y="9052560"/>
                  </a:lnTo>
                  <a:cubicBezTo>
                    <a:pt x="279781" y="9052560"/>
                    <a:pt x="0" y="8772779"/>
                    <a:pt x="0" y="8427720"/>
                  </a:cubicBezTo>
                  <a:close/>
                </a:path>
              </a:pathLst>
            </a:custGeom>
            <a:solidFill>
              <a:srgbClr val="D584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294376" y="5554980"/>
            <a:ext cx="2784348" cy="3579876"/>
            <a:chOff x="0" y="0"/>
            <a:chExt cx="3712464" cy="4773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712464" cy="4773168"/>
            </a:xfrm>
            <a:custGeom>
              <a:avLst/>
              <a:gdLst/>
              <a:ahLst/>
              <a:cxnLst/>
              <a:rect l="l" t="t" r="r" b="b"/>
              <a:pathLst>
                <a:path w="3712464" h="4773168">
                  <a:moveTo>
                    <a:pt x="0" y="618744"/>
                  </a:moveTo>
                  <a:cubicBezTo>
                    <a:pt x="0" y="276987"/>
                    <a:pt x="276987" y="0"/>
                    <a:pt x="618744" y="0"/>
                  </a:cubicBezTo>
                  <a:lnTo>
                    <a:pt x="3093720" y="0"/>
                  </a:lnTo>
                  <a:cubicBezTo>
                    <a:pt x="3435477" y="0"/>
                    <a:pt x="3712464" y="276987"/>
                    <a:pt x="3712464" y="618744"/>
                  </a:cubicBezTo>
                  <a:lnTo>
                    <a:pt x="3712464" y="4154424"/>
                  </a:lnTo>
                  <a:cubicBezTo>
                    <a:pt x="3712464" y="4496181"/>
                    <a:pt x="3435477" y="4773168"/>
                    <a:pt x="3093720" y="4773168"/>
                  </a:cubicBezTo>
                  <a:lnTo>
                    <a:pt x="618744" y="4773168"/>
                  </a:lnTo>
                  <a:cubicBezTo>
                    <a:pt x="276987" y="4773168"/>
                    <a:pt x="0" y="4496181"/>
                    <a:pt x="0" y="4154424"/>
                  </a:cubicBezTo>
                  <a:close/>
                </a:path>
              </a:pathLst>
            </a:custGeom>
            <a:solidFill>
              <a:srgbClr val="FFDAC1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532120" y="2742438"/>
            <a:ext cx="2308860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lang="en-US" sz="24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Long queues &amp; uncertainty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532120" y="5897118"/>
            <a:ext cx="2308860" cy="1349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Use slot booking + live digital tokens to reduce unnecessary waiting</a:t>
            </a:r>
            <a:r>
              <a:rPr lang="en-US" sz="1739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8298180" y="2359152"/>
            <a:ext cx="2811780" cy="6789420"/>
            <a:chOff x="0" y="0"/>
            <a:chExt cx="3749040" cy="905256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49040" cy="9052560"/>
            </a:xfrm>
            <a:custGeom>
              <a:avLst/>
              <a:gdLst/>
              <a:ahLst/>
              <a:cxnLst/>
              <a:rect l="l" t="t" r="r" b="b"/>
              <a:pathLst>
                <a:path w="3749040" h="9052560">
                  <a:moveTo>
                    <a:pt x="0" y="624840"/>
                  </a:moveTo>
                  <a:cubicBezTo>
                    <a:pt x="0" y="279781"/>
                    <a:pt x="279781" y="0"/>
                    <a:pt x="624840" y="0"/>
                  </a:cubicBezTo>
                  <a:lnTo>
                    <a:pt x="3124200" y="0"/>
                  </a:lnTo>
                  <a:cubicBezTo>
                    <a:pt x="3469259" y="0"/>
                    <a:pt x="3749040" y="279781"/>
                    <a:pt x="3749040" y="624840"/>
                  </a:cubicBezTo>
                  <a:lnTo>
                    <a:pt x="3749040" y="8427720"/>
                  </a:lnTo>
                  <a:cubicBezTo>
                    <a:pt x="3749040" y="8772778"/>
                    <a:pt x="3469259" y="9052560"/>
                    <a:pt x="3124200" y="9052560"/>
                  </a:cubicBezTo>
                  <a:lnTo>
                    <a:pt x="624840" y="9052560"/>
                  </a:lnTo>
                  <a:cubicBezTo>
                    <a:pt x="279781" y="9052560"/>
                    <a:pt x="0" y="8772779"/>
                    <a:pt x="0" y="8427720"/>
                  </a:cubicBezTo>
                  <a:close/>
                </a:path>
              </a:pathLst>
            </a:custGeom>
            <a:solidFill>
              <a:srgbClr val="D584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8311896" y="5554980"/>
            <a:ext cx="2784348" cy="3579876"/>
            <a:chOff x="0" y="0"/>
            <a:chExt cx="3712464" cy="477316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3712464" cy="4773168"/>
            </a:xfrm>
            <a:custGeom>
              <a:avLst/>
              <a:gdLst/>
              <a:ahLst/>
              <a:cxnLst/>
              <a:rect l="l" t="t" r="r" b="b"/>
              <a:pathLst>
                <a:path w="3712464" h="4773168">
                  <a:moveTo>
                    <a:pt x="0" y="618744"/>
                  </a:moveTo>
                  <a:cubicBezTo>
                    <a:pt x="0" y="276987"/>
                    <a:pt x="276987" y="0"/>
                    <a:pt x="618744" y="0"/>
                  </a:cubicBezTo>
                  <a:lnTo>
                    <a:pt x="3093720" y="0"/>
                  </a:lnTo>
                  <a:cubicBezTo>
                    <a:pt x="3435477" y="0"/>
                    <a:pt x="3712464" y="276987"/>
                    <a:pt x="3712464" y="618744"/>
                  </a:cubicBezTo>
                  <a:lnTo>
                    <a:pt x="3712464" y="4154424"/>
                  </a:lnTo>
                  <a:cubicBezTo>
                    <a:pt x="3712464" y="4496181"/>
                    <a:pt x="3435477" y="4773168"/>
                    <a:pt x="3093720" y="4773168"/>
                  </a:cubicBezTo>
                  <a:lnTo>
                    <a:pt x="618744" y="4773168"/>
                  </a:lnTo>
                  <a:cubicBezTo>
                    <a:pt x="276987" y="4773168"/>
                    <a:pt x="0" y="4496181"/>
                    <a:pt x="0" y="4154424"/>
                  </a:cubicBezTo>
                  <a:close/>
                </a:path>
              </a:pathLst>
            </a:custGeom>
            <a:solidFill>
              <a:srgbClr val="FFDAC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8549640" y="2742438"/>
            <a:ext cx="2308860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lang="en-US" sz="24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Congestion varies by </a:t>
            </a:r>
            <a:r>
              <a:rPr lang="en-US" sz="2400" b="1" dirty="0" err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centre</a:t>
            </a:r>
            <a:endParaRPr lang="en-US" sz="2400" b="1" dirty="0">
              <a:solidFill>
                <a:srgbClr val="FFFFFF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8549640" y="5897118"/>
            <a:ext cx="2308860" cy="1349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Rank slots using queue length, processing time and active counters.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1315700" y="2359152"/>
            <a:ext cx="2811780" cy="6789420"/>
            <a:chOff x="0" y="0"/>
            <a:chExt cx="3749040" cy="905256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749040" cy="9052560"/>
            </a:xfrm>
            <a:custGeom>
              <a:avLst/>
              <a:gdLst/>
              <a:ahLst/>
              <a:cxnLst/>
              <a:rect l="l" t="t" r="r" b="b"/>
              <a:pathLst>
                <a:path w="3749040" h="9052560">
                  <a:moveTo>
                    <a:pt x="0" y="624840"/>
                  </a:moveTo>
                  <a:cubicBezTo>
                    <a:pt x="0" y="279781"/>
                    <a:pt x="279781" y="0"/>
                    <a:pt x="624840" y="0"/>
                  </a:cubicBezTo>
                  <a:lnTo>
                    <a:pt x="3124200" y="0"/>
                  </a:lnTo>
                  <a:cubicBezTo>
                    <a:pt x="3469259" y="0"/>
                    <a:pt x="3749040" y="279781"/>
                    <a:pt x="3749040" y="624840"/>
                  </a:cubicBezTo>
                  <a:lnTo>
                    <a:pt x="3749040" y="8427720"/>
                  </a:lnTo>
                  <a:cubicBezTo>
                    <a:pt x="3749040" y="8772778"/>
                    <a:pt x="3469259" y="9052560"/>
                    <a:pt x="3124200" y="9052560"/>
                  </a:cubicBezTo>
                  <a:lnTo>
                    <a:pt x="624840" y="9052560"/>
                  </a:lnTo>
                  <a:cubicBezTo>
                    <a:pt x="279781" y="9052560"/>
                    <a:pt x="0" y="8772779"/>
                    <a:pt x="0" y="8427720"/>
                  </a:cubicBezTo>
                  <a:close/>
                </a:path>
              </a:pathLst>
            </a:custGeom>
            <a:solidFill>
              <a:srgbClr val="D584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29416" y="5554980"/>
            <a:ext cx="2784348" cy="3579876"/>
            <a:chOff x="0" y="0"/>
            <a:chExt cx="3712464" cy="477316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3712464" cy="4773168"/>
            </a:xfrm>
            <a:custGeom>
              <a:avLst/>
              <a:gdLst/>
              <a:ahLst/>
              <a:cxnLst/>
              <a:rect l="l" t="t" r="r" b="b"/>
              <a:pathLst>
                <a:path w="3712464" h="4773168">
                  <a:moveTo>
                    <a:pt x="0" y="618744"/>
                  </a:moveTo>
                  <a:cubicBezTo>
                    <a:pt x="0" y="276987"/>
                    <a:pt x="276987" y="0"/>
                    <a:pt x="618744" y="0"/>
                  </a:cubicBezTo>
                  <a:lnTo>
                    <a:pt x="3093720" y="0"/>
                  </a:lnTo>
                  <a:cubicBezTo>
                    <a:pt x="3435477" y="0"/>
                    <a:pt x="3712464" y="276987"/>
                    <a:pt x="3712464" y="618744"/>
                  </a:cubicBezTo>
                  <a:lnTo>
                    <a:pt x="3712464" y="4154424"/>
                  </a:lnTo>
                  <a:cubicBezTo>
                    <a:pt x="3712464" y="4496181"/>
                    <a:pt x="3435477" y="4773168"/>
                    <a:pt x="3093720" y="4773168"/>
                  </a:cubicBezTo>
                  <a:lnTo>
                    <a:pt x="618744" y="4773168"/>
                  </a:lnTo>
                  <a:cubicBezTo>
                    <a:pt x="276987" y="4773168"/>
                    <a:pt x="0" y="4496181"/>
                    <a:pt x="0" y="4154424"/>
                  </a:cubicBezTo>
                  <a:close/>
                </a:path>
              </a:pathLst>
            </a:custGeom>
            <a:solidFill>
              <a:srgbClr val="FFDAC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1567160" y="2742438"/>
            <a:ext cx="2308860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lang="en-US" sz="24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Network interruptions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567160" y="5897118"/>
            <a:ext cx="2308860" cy="1349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Keep the core workflow lightweight and support local development.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4333220" y="2359152"/>
            <a:ext cx="2811780" cy="6789420"/>
            <a:chOff x="0" y="0"/>
            <a:chExt cx="3749040" cy="90525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3749040" cy="9052560"/>
            </a:xfrm>
            <a:custGeom>
              <a:avLst/>
              <a:gdLst/>
              <a:ahLst/>
              <a:cxnLst/>
              <a:rect l="l" t="t" r="r" b="b"/>
              <a:pathLst>
                <a:path w="3749040" h="9052560">
                  <a:moveTo>
                    <a:pt x="0" y="624840"/>
                  </a:moveTo>
                  <a:cubicBezTo>
                    <a:pt x="0" y="279781"/>
                    <a:pt x="279781" y="0"/>
                    <a:pt x="624840" y="0"/>
                  </a:cubicBezTo>
                  <a:lnTo>
                    <a:pt x="3124200" y="0"/>
                  </a:lnTo>
                  <a:cubicBezTo>
                    <a:pt x="3469259" y="0"/>
                    <a:pt x="3749040" y="279781"/>
                    <a:pt x="3749040" y="624840"/>
                  </a:cubicBezTo>
                  <a:lnTo>
                    <a:pt x="3749040" y="8427720"/>
                  </a:lnTo>
                  <a:cubicBezTo>
                    <a:pt x="3749040" y="8772778"/>
                    <a:pt x="3469259" y="9052560"/>
                    <a:pt x="3124200" y="9052560"/>
                  </a:cubicBezTo>
                  <a:lnTo>
                    <a:pt x="624840" y="9052560"/>
                  </a:lnTo>
                  <a:cubicBezTo>
                    <a:pt x="279781" y="9052560"/>
                    <a:pt x="0" y="8772779"/>
                    <a:pt x="0" y="8427720"/>
                  </a:cubicBezTo>
                  <a:close/>
                </a:path>
              </a:pathLst>
            </a:custGeom>
            <a:solidFill>
              <a:srgbClr val="D584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4346936" y="5554980"/>
            <a:ext cx="2784348" cy="3579876"/>
            <a:chOff x="0" y="0"/>
            <a:chExt cx="3712464" cy="477316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3712464" cy="4773168"/>
            </a:xfrm>
            <a:custGeom>
              <a:avLst/>
              <a:gdLst/>
              <a:ahLst/>
              <a:cxnLst/>
              <a:rect l="l" t="t" r="r" b="b"/>
              <a:pathLst>
                <a:path w="3712464" h="4773168">
                  <a:moveTo>
                    <a:pt x="0" y="618744"/>
                  </a:moveTo>
                  <a:cubicBezTo>
                    <a:pt x="0" y="276987"/>
                    <a:pt x="276987" y="0"/>
                    <a:pt x="618744" y="0"/>
                  </a:cubicBezTo>
                  <a:lnTo>
                    <a:pt x="3093720" y="0"/>
                  </a:lnTo>
                  <a:cubicBezTo>
                    <a:pt x="3435477" y="0"/>
                    <a:pt x="3712464" y="276987"/>
                    <a:pt x="3712464" y="618744"/>
                  </a:cubicBezTo>
                  <a:lnTo>
                    <a:pt x="3712464" y="4154424"/>
                  </a:lnTo>
                  <a:cubicBezTo>
                    <a:pt x="3712464" y="4496181"/>
                    <a:pt x="3435477" y="4773168"/>
                    <a:pt x="3093720" y="4773168"/>
                  </a:cubicBezTo>
                  <a:lnTo>
                    <a:pt x="618744" y="4773168"/>
                  </a:lnTo>
                  <a:cubicBezTo>
                    <a:pt x="276987" y="4773168"/>
                    <a:pt x="0" y="4496181"/>
                    <a:pt x="0" y="4154424"/>
                  </a:cubicBezTo>
                  <a:close/>
                </a:path>
              </a:pathLst>
            </a:custGeom>
            <a:solidFill>
              <a:srgbClr val="FFDAC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4584680" y="2742438"/>
            <a:ext cx="2308860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lang="en-US" sz="2400" b="1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Scaling across mandis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4584680" y="5897118"/>
            <a:ext cx="2308860" cy="1618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Pilot selected </a:t>
            </a:r>
            <a:r>
              <a:rPr lang="en-US" sz="2400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centres</a:t>
            </a: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, integrate </a:t>
            </a:r>
            <a:r>
              <a:rPr lang="en-US" sz="2400" dirty="0" err="1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centre</a:t>
            </a:r>
            <a:r>
              <a:rPr lang="en-US" sz="2400" dirty="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 data, then expand state-wise.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440" y="26860"/>
            <a:ext cx="1647063" cy="961263"/>
            <a:chOff x="0" y="0"/>
            <a:chExt cx="2196084" cy="12816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6084" cy="1281684"/>
            </a:xfrm>
            <a:custGeom>
              <a:avLst/>
              <a:gdLst/>
              <a:ahLst/>
              <a:cxnLst/>
              <a:rect l="l" t="t" r="r" b="b"/>
              <a:pathLst>
                <a:path w="2196084" h="1281684">
                  <a:moveTo>
                    <a:pt x="0" y="640842"/>
                  </a:moveTo>
                  <a:cubicBezTo>
                    <a:pt x="0" y="286893"/>
                    <a:pt x="491617" y="0"/>
                    <a:pt x="1098042" y="0"/>
                  </a:cubicBezTo>
                  <a:cubicBezTo>
                    <a:pt x="1704467" y="0"/>
                    <a:pt x="2196084" y="286893"/>
                    <a:pt x="2196084" y="640842"/>
                  </a:cubicBezTo>
                  <a:cubicBezTo>
                    <a:pt x="2196084" y="994791"/>
                    <a:pt x="1704467" y="1281684"/>
                    <a:pt x="1098042" y="1281684"/>
                  </a:cubicBezTo>
                  <a:cubicBezTo>
                    <a:pt x="491617" y="1281684"/>
                    <a:pt x="0" y="994791"/>
                    <a:pt x="0" y="64084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E5E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9728" y="219456"/>
            <a:ext cx="1577340" cy="617220"/>
            <a:chOff x="0" y="0"/>
            <a:chExt cx="2103120" cy="822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3120" cy="822960"/>
            </a:xfrm>
            <a:custGeom>
              <a:avLst/>
              <a:gdLst/>
              <a:ahLst/>
              <a:cxnLst/>
              <a:rect l="l" t="t" r="r" b="b"/>
              <a:pathLst>
                <a:path w="2103120" h="822960">
                  <a:moveTo>
                    <a:pt x="0" y="0"/>
                  </a:moveTo>
                  <a:lnTo>
                    <a:pt x="2103120" y="0"/>
                  </a:lnTo>
                  <a:lnTo>
                    <a:pt x="21031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5" r="-20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103120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KisanSetu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017520" y="137160"/>
            <a:ext cx="12070080" cy="754380"/>
            <a:chOff x="0" y="0"/>
            <a:chExt cx="160934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093439" cy="1005840"/>
            </a:xfrm>
            <a:custGeom>
              <a:avLst/>
              <a:gdLst/>
              <a:ahLst/>
              <a:cxnLst/>
              <a:rect l="l" t="t" r="r" b="b"/>
              <a:pathLst>
                <a:path w="16093439" h="1005840">
                  <a:moveTo>
                    <a:pt x="0" y="0"/>
                  </a:moveTo>
                  <a:lnTo>
                    <a:pt x="16093439" y="0"/>
                  </a:lnTo>
                  <a:lnTo>
                    <a:pt x="16093439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1760" b="-2617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160934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80"/>
                </a:lnSpc>
              </a:pPr>
              <a:r>
                <a:rPr lang="en-US" sz="4650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IMPACT AND BENEFITS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430500" y="27432"/>
            <a:ext cx="2674620" cy="1261872"/>
            <a:chOff x="0" y="0"/>
            <a:chExt cx="3566160" cy="1682496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3566160" cy="1682496"/>
            </a:xfrm>
            <a:custGeom>
              <a:avLst/>
              <a:gdLst/>
              <a:ahLst/>
              <a:cxnLst/>
              <a:rect l="l" t="t" r="r" b="b"/>
              <a:pathLst>
                <a:path w="3566160" h="1682496">
                  <a:moveTo>
                    <a:pt x="0" y="0"/>
                  </a:moveTo>
                  <a:lnTo>
                    <a:pt x="3566160" y="0"/>
                  </a:lnTo>
                  <a:lnTo>
                    <a:pt x="3566160" y="1682496"/>
                  </a:lnTo>
                  <a:lnTo>
                    <a:pt x="0" y="1682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0" b="-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573768"/>
            <a:ext cx="18288000" cy="713232"/>
            <a:chOff x="0" y="0"/>
            <a:chExt cx="24384000" cy="95097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950976"/>
            </a:xfrm>
            <a:custGeom>
              <a:avLst/>
              <a:gdLst/>
              <a:ahLst/>
              <a:cxnLst/>
              <a:rect l="l" t="t" r="r" b="b"/>
              <a:pathLst>
                <a:path w="24384000" h="950976">
                  <a:moveTo>
                    <a:pt x="0" y="0"/>
                  </a:moveTo>
                  <a:lnTo>
                    <a:pt x="24384000" y="0"/>
                  </a:lnTo>
                  <a:lnTo>
                    <a:pt x="24384000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C70B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06440" y="9760839"/>
            <a:ext cx="6629400" cy="16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 - KisanSetu 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396460" y="9723882"/>
            <a:ext cx="388620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72916" y="1474184"/>
            <a:ext cx="7352347" cy="7626668"/>
            <a:chOff x="0" y="0"/>
            <a:chExt cx="9803130" cy="1016889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803130" cy="10168890"/>
            </a:xfrm>
            <a:custGeom>
              <a:avLst/>
              <a:gdLst/>
              <a:ahLst/>
              <a:cxnLst/>
              <a:rect l="l" t="t" r="r" b="b"/>
              <a:pathLst>
                <a:path w="9803130" h="10168890">
                  <a:moveTo>
                    <a:pt x="0" y="1633855"/>
                  </a:moveTo>
                  <a:cubicBezTo>
                    <a:pt x="0" y="731520"/>
                    <a:pt x="731520" y="0"/>
                    <a:pt x="1633855" y="0"/>
                  </a:cubicBezTo>
                  <a:lnTo>
                    <a:pt x="8169275" y="0"/>
                  </a:lnTo>
                  <a:cubicBezTo>
                    <a:pt x="9071610" y="0"/>
                    <a:pt x="9803130" y="731520"/>
                    <a:pt x="9803130" y="1633855"/>
                  </a:cubicBezTo>
                  <a:lnTo>
                    <a:pt x="9803130" y="8535035"/>
                  </a:lnTo>
                  <a:cubicBezTo>
                    <a:pt x="9803130" y="9437370"/>
                    <a:pt x="9071611" y="10168890"/>
                    <a:pt x="8169276" y="10168890"/>
                  </a:cubicBezTo>
                  <a:lnTo>
                    <a:pt x="1633855" y="10168890"/>
                  </a:lnTo>
                  <a:cubicBezTo>
                    <a:pt x="731520" y="10168890"/>
                    <a:pt x="0" y="9437370"/>
                    <a:pt x="0" y="853503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82823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896112" y="1837182"/>
            <a:ext cx="6492240" cy="448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292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Impact on Farmers &amp; Centres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6112" y="2532507"/>
            <a:ext cx="6464808" cy="484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4"/>
              </a:lnSpc>
            </a:pP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7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Less wasted time: </a:t>
            </a: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Farmers reserve before travel and follow their token remotely.</a:t>
            </a:r>
          </a:p>
          <a:p>
            <a:pPr algn="l">
              <a:lnSpc>
                <a:spcPts val="2484"/>
              </a:lnSpc>
            </a:pP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7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Higher predictability: </a:t>
            </a: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Live queue status and notifications reduce uncertainty.</a:t>
            </a:r>
          </a:p>
          <a:p>
            <a:pPr algn="l">
              <a:lnSpc>
                <a:spcPts val="2484"/>
              </a:lnSpc>
            </a:pP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7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Faster operations: </a:t>
            </a: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Structured token flow helps officers process farmers in sequence.</a:t>
            </a:r>
          </a:p>
          <a:p>
            <a:pPr algn="l">
              <a:lnSpc>
                <a:spcPts val="2484"/>
              </a:lnSpc>
            </a:pP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7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Payment visibility: </a:t>
            </a: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Procurement and payment status remain traceable.</a:t>
            </a:r>
          </a:p>
          <a:p>
            <a:pPr algn="l">
              <a:lnSpc>
                <a:spcPts val="2484"/>
              </a:lnSpc>
            </a:pP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07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Better planning: </a:t>
            </a:r>
            <a:r>
              <a:rPr lang="en-US" sz="20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Queue data supports staffing and capacity decisions.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6112" y="7597902"/>
            <a:ext cx="6492240" cy="270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770" b="1">
                <a:solidFill>
                  <a:srgbClr val="5A5A5A"/>
                </a:solidFill>
                <a:latin typeface="Arial Bold"/>
                <a:ea typeface="Arial Bold"/>
                <a:cs typeface="Arial Bold"/>
                <a:sym typeface="Arial Bold"/>
              </a:rPr>
              <a:t>PROJECTED / TARGET INDICATORS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33272" y="8119110"/>
            <a:ext cx="1623060" cy="407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7,000+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4692" y="8649843"/>
            <a:ext cx="1760220" cy="219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lang="en-US" sz="14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Target mandis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035808" y="8119110"/>
            <a:ext cx="1623060" cy="407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23%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67228" y="8649843"/>
            <a:ext cx="1760220" cy="219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lang="en-US" sz="14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Estimated wait cut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65776" y="8119110"/>
            <a:ext cx="1623060" cy="407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Lakhs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997196" y="8649843"/>
            <a:ext cx="1760220" cy="219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lang="en-US" sz="1470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Farmers reached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8153876" y="1474184"/>
            <a:ext cx="9546907" cy="7626668"/>
            <a:chOff x="0" y="0"/>
            <a:chExt cx="12729210" cy="1016889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729210" cy="10168890"/>
            </a:xfrm>
            <a:custGeom>
              <a:avLst/>
              <a:gdLst/>
              <a:ahLst/>
              <a:cxnLst/>
              <a:rect l="l" t="t" r="r" b="b"/>
              <a:pathLst>
                <a:path w="12729210" h="10168890">
                  <a:moveTo>
                    <a:pt x="0" y="1694815"/>
                  </a:moveTo>
                  <a:cubicBezTo>
                    <a:pt x="0" y="758825"/>
                    <a:pt x="758825" y="0"/>
                    <a:pt x="1694815" y="0"/>
                  </a:cubicBezTo>
                  <a:lnTo>
                    <a:pt x="11034395" y="0"/>
                  </a:lnTo>
                  <a:cubicBezTo>
                    <a:pt x="11970385" y="0"/>
                    <a:pt x="12729210" y="758825"/>
                    <a:pt x="12729210" y="1694815"/>
                  </a:cubicBezTo>
                  <a:lnTo>
                    <a:pt x="12729210" y="8474075"/>
                  </a:lnTo>
                  <a:cubicBezTo>
                    <a:pt x="12729210" y="9410065"/>
                    <a:pt x="11970385" y="10168890"/>
                    <a:pt x="11034395" y="10168890"/>
                  </a:cubicBezTo>
                  <a:lnTo>
                    <a:pt x="1694815" y="10168890"/>
                  </a:lnTo>
                  <a:cubicBezTo>
                    <a:pt x="758825" y="10168890"/>
                    <a:pt x="0" y="9410065"/>
                    <a:pt x="0" y="847407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82823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8618220" y="1837182"/>
            <a:ext cx="8618220" cy="448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0"/>
              </a:lnSpc>
            </a:pPr>
            <a:r>
              <a:rPr lang="en-US" sz="2925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KisanSetu Workflow Preview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8526780" y="2539270"/>
            <a:ext cx="8709660" cy="3634740"/>
            <a:chOff x="0" y="94869"/>
            <a:chExt cx="11612880" cy="4846320"/>
          </a:xfrm>
        </p:grpSpPr>
        <p:sp>
          <p:nvSpPr>
            <p:cNvPr id="31" name="Freeform 31" descr="image.png"/>
            <p:cNvSpPr/>
            <p:nvPr/>
          </p:nvSpPr>
          <p:spPr>
            <a:xfrm>
              <a:off x="0" y="94869"/>
              <a:ext cx="11612880" cy="4846320"/>
            </a:xfrm>
            <a:custGeom>
              <a:avLst/>
              <a:gdLst/>
              <a:ahLst/>
              <a:cxnLst/>
              <a:rect l="l" t="t" r="r" b="b"/>
              <a:pathLst>
                <a:path w="11612880" h="4846320">
                  <a:moveTo>
                    <a:pt x="0" y="0"/>
                  </a:moveTo>
                  <a:lnTo>
                    <a:pt x="11612880" y="0"/>
                  </a:lnTo>
                  <a:lnTo>
                    <a:pt x="11612880" y="4846320"/>
                  </a:lnTo>
                  <a:lnTo>
                    <a:pt x="0" y="4846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55" r="-105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8755380" y="6294882"/>
            <a:ext cx="8343900" cy="518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2"/>
              </a:lnSpc>
            </a:pPr>
            <a:r>
              <a:rPr lang="en-US" sz="24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Digital workflow: login → ranked slot → token → live queue → grading → procurement → payment.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8565356" y="7015448"/>
            <a:ext cx="2647760" cy="1591627"/>
            <a:chOff x="0" y="0"/>
            <a:chExt cx="3530346" cy="212217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530346" cy="2122170"/>
            </a:xfrm>
            <a:custGeom>
              <a:avLst/>
              <a:gdLst/>
              <a:ahLst/>
              <a:cxnLst/>
              <a:rect l="l" t="t" r="r" b="b"/>
              <a:pathLst>
                <a:path w="3530346" h="2122170">
                  <a:moveTo>
                    <a:pt x="0" y="353695"/>
                  </a:moveTo>
                  <a:cubicBezTo>
                    <a:pt x="0" y="158369"/>
                    <a:pt x="158369" y="0"/>
                    <a:pt x="353695" y="0"/>
                  </a:cubicBezTo>
                  <a:lnTo>
                    <a:pt x="3176651" y="0"/>
                  </a:lnTo>
                  <a:cubicBezTo>
                    <a:pt x="3371977" y="0"/>
                    <a:pt x="3530346" y="158369"/>
                    <a:pt x="3530346" y="353695"/>
                  </a:cubicBezTo>
                  <a:lnTo>
                    <a:pt x="3530346" y="1768475"/>
                  </a:lnTo>
                  <a:cubicBezTo>
                    <a:pt x="3530346" y="1963801"/>
                    <a:pt x="3371977" y="2122170"/>
                    <a:pt x="3176651" y="2122170"/>
                  </a:cubicBezTo>
                  <a:lnTo>
                    <a:pt x="353695" y="2122170"/>
                  </a:lnTo>
                  <a:cubicBezTo>
                    <a:pt x="158369" y="2122170"/>
                    <a:pt x="0" y="1963801"/>
                    <a:pt x="0" y="176847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D5845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8727948" y="7268718"/>
            <a:ext cx="2322576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62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SOCIAL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755380" y="7680198"/>
            <a:ext cx="2267712" cy="640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4"/>
              </a:lnSpc>
            </a:pPr>
            <a:r>
              <a:rPr lang="en-US" sz="1378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Fewer repeat trips and clearer queue expectations.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1418284" y="7015448"/>
            <a:ext cx="2647760" cy="1591627"/>
            <a:chOff x="0" y="0"/>
            <a:chExt cx="3530346" cy="212217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3530346" cy="2122170"/>
            </a:xfrm>
            <a:custGeom>
              <a:avLst/>
              <a:gdLst/>
              <a:ahLst/>
              <a:cxnLst/>
              <a:rect l="l" t="t" r="r" b="b"/>
              <a:pathLst>
                <a:path w="3530346" h="2122170">
                  <a:moveTo>
                    <a:pt x="0" y="353695"/>
                  </a:moveTo>
                  <a:cubicBezTo>
                    <a:pt x="0" y="158369"/>
                    <a:pt x="158369" y="0"/>
                    <a:pt x="353695" y="0"/>
                  </a:cubicBezTo>
                  <a:lnTo>
                    <a:pt x="3176651" y="0"/>
                  </a:lnTo>
                  <a:cubicBezTo>
                    <a:pt x="3371977" y="0"/>
                    <a:pt x="3530346" y="158369"/>
                    <a:pt x="3530346" y="353695"/>
                  </a:cubicBezTo>
                  <a:lnTo>
                    <a:pt x="3530346" y="1768475"/>
                  </a:lnTo>
                  <a:cubicBezTo>
                    <a:pt x="3530346" y="1963801"/>
                    <a:pt x="3371977" y="2122170"/>
                    <a:pt x="3176651" y="2122170"/>
                  </a:cubicBezTo>
                  <a:lnTo>
                    <a:pt x="353695" y="2122170"/>
                  </a:lnTo>
                  <a:cubicBezTo>
                    <a:pt x="158369" y="2122170"/>
                    <a:pt x="0" y="1963801"/>
                    <a:pt x="0" y="176847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D5845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1580876" y="7268718"/>
            <a:ext cx="2322576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62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ECONOMIC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608308" y="7680198"/>
            <a:ext cx="2267712" cy="640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4"/>
              </a:lnSpc>
            </a:pPr>
            <a:r>
              <a:rPr lang="en-US" sz="1378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Better throughput and payment visibility.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4271212" y="7015448"/>
            <a:ext cx="2647760" cy="1591627"/>
            <a:chOff x="0" y="0"/>
            <a:chExt cx="3530346" cy="212217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530346" cy="2122170"/>
            </a:xfrm>
            <a:custGeom>
              <a:avLst/>
              <a:gdLst/>
              <a:ahLst/>
              <a:cxnLst/>
              <a:rect l="l" t="t" r="r" b="b"/>
              <a:pathLst>
                <a:path w="3530346" h="2122170">
                  <a:moveTo>
                    <a:pt x="0" y="353695"/>
                  </a:moveTo>
                  <a:cubicBezTo>
                    <a:pt x="0" y="158369"/>
                    <a:pt x="158369" y="0"/>
                    <a:pt x="353695" y="0"/>
                  </a:cubicBezTo>
                  <a:lnTo>
                    <a:pt x="3176651" y="0"/>
                  </a:lnTo>
                  <a:cubicBezTo>
                    <a:pt x="3371977" y="0"/>
                    <a:pt x="3530346" y="158369"/>
                    <a:pt x="3530346" y="353695"/>
                  </a:cubicBezTo>
                  <a:lnTo>
                    <a:pt x="3530346" y="1768475"/>
                  </a:lnTo>
                  <a:cubicBezTo>
                    <a:pt x="3530346" y="1963801"/>
                    <a:pt x="3371977" y="2122170"/>
                    <a:pt x="3176651" y="2122170"/>
                  </a:cubicBezTo>
                  <a:lnTo>
                    <a:pt x="353695" y="2122170"/>
                  </a:lnTo>
                  <a:cubicBezTo>
                    <a:pt x="158369" y="2122170"/>
                    <a:pt x="0" y="1963801"/>
                    <a:pt x="0" y="176847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D5845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433804" y="7268718"/>
            <a:ext cx="2322576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62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GOVERNANCE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4461236" y="7680198"/>
            <a:ext cx="2267712" cy="640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4"/>
              </a:lnSpc>
            </a:pPr>
            <a:r>
              <a:rPr lang="en-US" sz="1378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Digital records and queue analytics improve traceability.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440" y="26860"/>
            <a:ext cx="1647063" cy="961263"/>
            <a:chOff x="0" y="0"/>
            <a:chExt cx="2196084" cy="12816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6084" cy="1281684"/>
            </a:xfrm>
            <a:custGeom>
              <a:avLst/>
              <a:gdLst/>
              <a:ahLst/>
              <a:cxnLst/>
              <a:rect l="l" t="t" r="r" b="b"/>
              <a:pathLst>
                <a:path w="2196084" h="1281684">
                  <a:moveTo>
                    <a:pt x="0" y="640842"/>
                  </a:moveTo>
                  <a:cubicBezTo>
                    <a:pt x="0" y="286893"/>
                    <a:pt x="491617" y="0"/>
                    <a:pt x="1098042" y="0"/>
                  </a:cubicBezTo>
                  <a:cubicBezTo>
                    <a:pt x="1704467" y="0"/>
                    <a:pt x="2196084" y="286893"/>
                    <a:pt x="2196084" y="640842"/>
                  </a:cubicBezTo>
                  <a:cubicBezTo>
                    <a:pt x="2196084" y="994791"/>
                    <a:pt x="1704467" y="1281684"/>
                    <a:pt x="1098042" y="1281684"/>
                  </a:cubicBezTo>
                  <a:cubicBezTo>
                    <a:pt x="491617" y="1281684"/>
                    <a:pt x="0" y="994791"/>
                    <a:pt x="0" y="64084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E5E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9728" y="219456"/>
            <a:ext cx="1577340" cy="617220"/>
            <a:chOff x="0" y="0"/>
            <a:chExt cx="2103120" cy="822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3120" cy="822960"/>
            </a:xfrm>
            <a:custGeom>
              <a:avLst/>
              <a:gdLst/>
              <a:ahLst/>
              <a:cxnLst/>
              <a:rect l="l" t="t" r="r" b="b"/>
              <a:pathLst>
                <a:path w="2103120" h="822960">
                  <a:moveTo>
                    <a:pt x="0" y="0"/>
                  </a:moveTo>
                  <a:lnTo>
                    <a:pt x="2103120" y="0"/>
                  </a:lnTo>
                  <a:lnTo>
                    <a:pt x="21031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5" r="-20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103120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KisanSetu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017520" y="137160"/>
            <a:ext cx="12070080" cy="754380"/>
            <a:chOff x="0" y="0"/>
            <a:chExt cx="160934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093439" cy="1005840"/>
            </a:xfrm>
            <a:custGeom>
              <a:avLst/>
              <a:gdLst/>
              <a:ahLst/>
              <a:cxnLst/>
              <a:rect l="l" t="t" r="r" b="b"/>
              <a:pathLst>
                <a:path w="16093439" h="1005840">
                  <a:moveTo>
                    <a:pt x="0" y="0"/>
                  </a:moveTo>
                  <a:lnTo>
                    <a:pt x="16093439" y="0"/>
                  </a:lnTo>
                  <a:lnTo>
                    <a:pt x="16093439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1760" b="-2617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160934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80"/>
                </a:lnSpc>
              </a:pPr>
              <a:r>
                <a:rPr lang="en-US" sz="4650" b="1">
                  <a:solidFill>
                    <a:srgbClr val="19191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RESEARCH AND REFERENCES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430500" y="27432"/>
            <a:ext cx="2674620" cy="1261872"/>
            <a:chOff x="0" y="0"/>
            <a:chExt cx="3566160" cy="1682496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3566160" cy="1682496"/>
            </a:xfrm>
            <a:custGeom>
              <a:avLst/>
              <a:gdLst/>
              <a:ahLst/>
              <a:cxnLst/>
              <a:rect l="l" t="t" r="r" b="b"/>
              <a:pathLst>
                <a:path w="3566160" h="1682496">
                  <a:moveTo>
                    <a:pt x="0" y="0"/>
                  </a:moveTo>
                  <a:lnTo>
                    <a:pt x="3566160" y="0"/>
                  </a:lnTo>
                  <a:lnTo>
                    <a:pt x="3566160" y="1682496"/>
                  </a:lnTo>
                  <a:lnTo>
                    <a:pt x="0" y="1682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0" b="-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573768"/>
            <a:ext cx="18288000" cy="713232"/>
            <a:chOff x="0" y="0"/>
            <a:chExt cx="24384000" cy="95097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950976"/>
            </a:xfrm>
            <a:custGeom>
              <a:avLst/>
              <a:gdLst/>
              <a:ahLst/>
              <a:cxnLst/>
              <a:rect l="l" t="t" r="r" b="b"/>
              <a:pathLst>
                <a:path w="24384000" h="950976">
                  <a:moveTo>
                    <a:pt x="0" y="0"/>
                  </a:moveTo>
                  <a:lnTo>
                    <a:pt x="24384000" y="0"/>
                  </a:lnTo>
                  <a:lnTo>
                    <a:pt x="24384000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C70B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806440" y="9760839"/>
            <a:ext cx="6629400" cy="16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 - KisanSetu 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396460" y="9723882"/>
            <a:ext cx="388620" cy="22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0100" y="1398270"/>
            <a:ext cx="16573500" cy="448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Research-backed references used to frame the problem, workflow and technology choices.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14064" y="2077688"/>
            <a:ext cx="8243888" cy="1427036"/>
            <a:chOff x="0" y="0"/>
            <a:chExt cx="10991850" cy="190271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813816" y="22856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1. Smart India Hackathon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13816" y="27108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Official SIH portal and problem-statement process.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13816" y="31813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4" tooltip="https://www.sih.gov.in/"/>
              </a:rPr>
              <a:t>https://www.sih.gov.in/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14064" y="3792188"/>
            <a:ext cx="8243888" cy="1427036"/>
            <a:chOff x="0" y="0"/>
            <a:chExt cx="10991850" cy="190271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813816" y="40001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2. e-NAM / National Agriculture Market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13816" y="44253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Government platform for APMC integration, market information and online payments.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3816" y="48958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5" tooltip="https://enam.gov.in/"/>
              </a:rPr>
              <a:t>https://enam.gov.in/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514064" y="5506688"/>
            <a:ext cx="8243888" cy="1427036"/>
            <a:chOff x="0" y="0"/>
            <a:chExt cx="10991850" cy="190271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813816" y="57146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3. FCI Annual Report 2024–25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13816" y="61398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Procurement at MSP and payment to farmers through bank accounts.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3816" y="66103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6" tooltip="https://fci.gov.in/fci-storage/storage/app/uploads/693a5c5db48ed1765432413.pdf"/>
              </a:rPr>
              <a:t>https://fci.gov.in/fci-storage/storage/app/uploads/693a5c5db48ed1765432413.pdf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514064" y="7221188"/>
            <a:ext cx="8243888" cy="1427036"/>
            <a:chOff x="0" y="0"/>
            <a:chExt cx="10991850" cy="190271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813816" y="74291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4. FCI Procurement Action Plan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13816" y="78543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Procurement-centre operations, quality checks and MSP communication.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3816" y="83248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7" tooltip="https://fci.gov.in/admin/storage/ckeditor/Action_plan_RMS_2023-24_1705061814.pdf"/>
              </a:rPr>
              <a:t>https://fci.gov.in/admin/storage/ckeditor/Action_plan_RMS_2023-24_1705061814.pdf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360884" y="2077688"/>
            <a:ext cx="8243888" cy="1427036"/>
            <a:chOff x="0" y="0"/>
            <a:chExt cx="10991850" cy="1902714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660636" y="22856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5. Department of Consumer Affairs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660636" y="27108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Government source on agricultural commodity procurement through agencies.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660636" y="31813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8" tooltip="https://consumeraffairs.gov.in/"/>
              </a:rPr>
              <a:t>https://consumeraffairs.gov.in/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9360884" y="3792188"/>
            <a:ext cx="8243888" cy="1427036"/>
            <a:chOff x="0" y="0"/>
            <a:chExt cx="10991850" cy="1902714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9660636" y="40001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6. KisanSetu AI Repository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660636" y="44253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Project source code, architecture, API design, seed data and tests.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660636" y="48958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9" tooltip="https://github.com/YTxFSGAMERz/KisanSetu-AI"/>
              </a:rPr>
              <a:t>https://github.com/YTxFSGAMERz/KisanSetu-AI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9360884" y="5506688"/>
            <a:ext cx="8243888" cy="1427036"/>
            <a:chOff x="0" y="0"/>
            <a:chExt cx="10991850" cy="190271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0991850" cy="1902714"/>
            </a:xfrm>
            <a:custGeom>
              <a:avLst/>
              <a:gdLst/>
              <a:ahLst/>
              <a:cxnLst/>
              <a:rect l="l" t="t" r="r" b="b"/>
              <a:pathLst>
                <a:path w="10991850" h="1902714">
                  <a:moveTo>
                    <a:pt x="0" y="317119"/>
                  </a:moveTo>
                  <a:cubicBezTo>
                    <a:pt x="0" y="141986"/>
                    <a:pt x="141986" y="0"/>
                    <a:pt x="317119" y="0"/>
                  </a:cubicBezTo>
                  <a:lnTo>
                    <a:pt x="10674731" y="0"/>
                  </a:lnTo>
                  <a:cubicBezTo>
                    <a:pt x="10849864" y="0"/>
                    <a:pt x="10991850" y="141986"/>
                    <a:pt x="10991850" y="317119"/>
                  </a:cubicBezTo>
                  <a:lnTo>
                    <a:pt x="10991850" y="1585595"/>
                  </a:lnTo>
                  <a:cubicBezTo>
                    <a:pt x="10991850" y="1760728"/>
                    <a:pt x="10849864" y="1902714"/>
                    <a:pt x="10674731" y="1902714"/>
                  </a:cubicBezTo>
                  <a:lnTo>
                    <a:pt x="317119" y="1902714"/>
                  </a:lnTo>
                  <a:cubicBezTo>
                    <a:pt x="141986" y="1902714"/>
                    <a:pt x="0" y="1760728"/>
                    <a:pt x="0" y="1585595"/>
                  </a:cubicBezTo>
                  <a:close/>
                </a:path>
              </a:pathLst>
            </a:custGeom>
            <a:solidFill>
              <a:srgbClr val="FFDAC1"/>
            </a:solidFill>
            <a:ln w="14288" cap="sq">
              <a:solidFill>
                <a:srgbClr val="FFDAC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660636" y="5714619"/>
            <a:ext cx="7589520" cy="288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2"/>
              </a:lnSpc>
            </a:pPr>
            <a:r>
              <a:rPr lang="en-US" sz="2010" b="1">
                <a:solidFill>
                  <a:srgbClr val="191919"/>
                </a:solidFill>
                <a:latin typeface="Arial Bold"/>
                <a:ea typeface="Arial Bold"/>
                <a:cs typeface="Arial Bold"/>
                <a:sym typeface="Arial Bold"/>
              </a:rPr>
              <a:t>7. KisanSetu AI Demo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660636" y="6139815"/>
            <a:ext cx="7589520" cy="356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Live deployment used for project demonstration.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660636" y="6610350"/>
            <a:ext cx="7589520" cy="174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7"/>
              </a:lnSpc>
            </a:pPr>
            <a:r>
              <a:rPr lang="en-US" sz="1289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10" tooltip="https://kisansetu-sih.vercel.app/"/>
              </a:rPr>
              <a:t>https://kisansetu-sih.vercel.app/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841</Words>
  <Application>Microsoft Office PowerPoint</Application>
  <PresentationFormat>Custom</PresentationFormat>
  <Paragraphs>135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 Bold</vt:lpstr>
      <vt:lpstr>Calibri</vt:lpstr>
      <vt:lpstr>Aptos Bold</vt:lpstr>
      <vt:lpstr>Times New Roman Bold</vt:lpstr>
      <vt:lpstr>Aptos Italics</vt:lpstr>
      <vt:lpstr>Garamond Bold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Farhan Shaikh</cp:lastModifiedBy>
  <cp:revision>2</cp:revision>
  <dcterms:created xsi:type="dcterms:W3CDTF">2006-08-16T00:00:00Z</dcterms:created>
  <dcterms:modified xsi:type="dcterms:W3CDTF">2026-09-08T17:00:04Z</dcterms:modified>
  <dc:identifier>DAHUoIG0nyI</dc:identifier>
</cp:coreProperties>
</file>