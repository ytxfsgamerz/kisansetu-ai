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388596" y="2103120"/>
            <a:ext cx="4991819" cy="5669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943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भारत सरकार   |   GOVERNMENT OF INDIA   |   MINISTRY OF CONSUMER AFFAIRS, FOOD &amp; PUBLIC DISTRIBUTION</a:t>
            </a:r>
            <a:endParaRPr lang="en-US" sz="1050" dirty="0"/>
          </a:p>
        </p:txBody>
      </p:sp>
      <p:sp>
        <p:nvSpPr>
          <p:cNvPr id="4" name="Shape 1"/>
          <p:cNvSpPr/>
          <p:nvPr/>
        </p:nvSpPr>
        <p:spPr>
          <a:xfrm>
            <a:off x="704088" y="987552"/>
            <a:ext cx="2011680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pic>
        <p:nvPicPr>
          <p:cNvPr id="5" name="Image 1" descr="/home/claude/assets/sih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1388" y="502920"/>
            <a:ext cx="1864507" cy="868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2331720"/>
            <a:ext cx="9875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KisanSetu AI</a:t>
            </a:r>
            <a:endParaRPr lang="en-US" sz="6400" dirty="0"/>
          </a:p>
        </p:txBody>
      </p:sp>
      <p:sp>
        <p:nvSpPr>
          <p:cNvPr id="7" name="Shape 3"/>
          <p:cNvSpPr/>
          <p:nvPr/>
        </p:nvSpPr>
        <p:spPr>
          <a:xfrm>
            <a:off x="685800" y="3639312"/>
            <a:ext cx="1005840" cy="0"/>
          </a:xfrm>
          <a:prstGeom prst="line">
            <a:avLst/>
          </a:prstGeom>
          <a:noFill/>
          <a:ln w="25400">
            <a:solidFill>
              <a:srgbClr val="D9AE5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3785616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Procurement. Smart Queues. Empowered Farmers.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58368" y="437083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  ·  Problem Statement ID: 26032  ·  Theme: Smart Automation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58368" y="4690872"/>
            <a:ext cx="10058400" cy="500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Title:  </a:t>
            </a:r>
            <a:r>
              <a:rPr lang="en-US" sz="12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often face long waiting times, lack of information regarding procurement schedules, and uncertainty about procurement status.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321632"/>
            <a:ext cx="10911535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0080" y="5486224"/>
            <a:ext cx="2453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640080" y="5742256"/>
            <a:ext cx="24535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KisanSetu AI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3367964" y="5467936"/>
            <a:ext cx="0" cy="68580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596564" y="5486224"/>
            <a:ext cx="2453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596564" y="5742256"/>
            <a:ext cx="24535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SIH2026-APP-7729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095848" y="5467936"/>
            <a:ext cx="0" cy="68580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324448" y="5486224"/>
            <a:ext cx="2453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6324448" y="5742256"/>
            <a:ext cx="24535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8823731" y="5467936"/>
            <a:ext cx="0" cy="68580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052331" y="5486224"/>
            <a:ext cx="24535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9052331" y="5742256"/>
            <a:ext cx="24535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Prototype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658368" y="630801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          </a:t>
            </a:r>
            <a:pPr indent="0" marL="0">
              <a:buNone/>
            </a:pPr>
            <a:r>
              <a:rPr lang="en-US" sz="1150" b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github.com/YTxFSGAMERz/KisanSetu-AI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 →  SOLUTION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B886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Wait. We Built the Fix.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DDD5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160520" y="1783080"/>
            <a:ext cx="0" cy="443484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112264"/>
            <a:ext cx="3383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Mandis leave farmers stuck.</a:t>
            </a:r>
            <a:endParaRPr lang="en-US" sz="1650" dirty="0"/>
          </a:p>
        </p:txBody>
      </p:sp>
      <p:pic>
        <p:nvPicPr>
          <p:cNvPr id="12" name="Image 1" descr="/home/claude/assets/green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78992" y="29718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Waiting Times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0080" y="3310128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queue for hours — sometimes 12–48 hrs at peak harvest.</a:t>
            </a:r>
            <a:endParaRPr lang="en-US" sz="1030" dirty="0"/>
          </a:p>
        </p:txBody>
      </p:sp>
      <p:sp>
        <p:nvSpPr>
          <p:cNvPr id="15" name="Shape 11"/>
          <p:cNvSpPr/>
          <p:nvPr/>
        </p:nvSpPr>
        <p:spPr>
          <a:xfrm>
            <a:off x="640080" y="4041648"/>
            <a:ext cx="33375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16" name="Image 2" descr="/home/claude/assets/green/map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87952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78992" y="414223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40080" y="448056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know procurement schedules before arriving at the Mandi.</a:t>
            </a:r>
            <a:endParaRPr lang="en-US" sz="1030" dirty="0"/>
          </a:p>
        </p:txBody>
      </p:sp>
      <p:sp>
        <p:nvSpPr>
          <p:cNvPr id="19" name="Shape 14"/>
          <p:cNvSpPr/>
          <p:nvPr/>
        </p:nvSpPr>
        <p:spPr>
          <a:xfrm>
            <a:off x="640080" y="5212080"/>
            <a:ext cx="33375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20" name="Image 3" descr="/home/claude/assets/green/bu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358384"/>
            <a:ext cx="292608" cy="29260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78992" y="531266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Uncertainty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640080" y="5650992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can't track MSP payment status once the crop is sold.</a:t>
            </a:r>
            <a:endParaRPr lang="en-US" sz="1030" dirty="0"/>
          </a:p>
        </p:txBody>
      </p:sp>
      <p:sp>
        <p:nvSpPr>
          <p:cNvPr id="23" name="Text 17"/>
          <p:cNvSpPr/>
          <p:nvPr/>
        </p:nvSpPr>
        <p:spPr>
          <a:xfrm>
            <a:off x="4617720" y="1783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— KISANSETU AI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617720" y="2112264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 for booking, queueing, grading &amp; payment.</a:t>
            </a:r>
            <a:endParaRPr lang="en-US" sz="1650" dirty="0"/>
          </a:p>
        </p:txBody>
      </p:sp>
      <p:sp>
        <p:nvSpPr>
          <p:cNvPr id="25" name="Shape 19"/>
          <p:cNvSpPr/>
          <p:nvPr/>
        </p:nvSpPr>
        <p:spPr>
          <a:xfrm>
            <a:off x="4617720" y="2615184"/>
            <a:ext cx="694944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26" name="Image 4" descr="/home/claude/assets/green/calenda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27432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029200" y="268833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Slot Booking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617720" y="3054096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book procurement slots from home, by mobile.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4617720" y="3822192"/>
            <a:ext cx="324612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092440" y="2761488"/>
            <a:ext cx="0" cy="950976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31" name="Image 5" descr="/home/claude/assets/green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743200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732520" y="268833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Recommendations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8321040" y="3054096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ranks slots by predicted wait time &amp; congestion.</a:t>
            </a:r>
            <a:endParaRPr lang="en-US" sz="980" dirty="0"/>
          </a:p>
        </p:txBody>
      </p:sp>
      <p:sp>
        <p:nvSpPr>
          <p:cNvPr id="34" name="Shape 26"/>
          <p:cNvSpPr/>
          <p:nvPr/>
        </p:nvSpPr>
        <p:spPr>
          <a:xfrm>
            <a:off x="8321040" y="3822192"/>
            <a:ext cx="324612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35" name="Image 6" descr="/home/claude/assets/green/ticke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720" y="3950208"/>
            <a:ext cx="274320" cy="274320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5029200" y="389534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Tokens</a:t>
            </a:r>
            <a:endParaRPr lang="en-US" sz="1200" dirty="0"/>
          </a:p>
        </p:txBody>
      </p:sp>
      <p:sp>
        <p:nvSpPr>
          <p:cNvPr id="37" name="Text 28"/>
          <p:cNvSpPr/>
          <p:nvPr/>
        </p:nvSpPr>
        <p:spPr>
          <a:xfrm>
            <a:off x="4617720" y="4261104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queue tokens (A001, A042…) issued instantly.</a:t>
            </a:r>
            <a:endParaRPr lang="en-US" sz="980" dirty="0"/>
          </a:p>
        </p:txBody>
      </p:sp>
      <p:sp>
        <p:nvSpPr>
          <p:cNvPr id="38" name="Shape 29"/>
          <p:cNvSpPr/>
          <p:nvPr/>
        </p:nvSpPr>
        <p:spPr>
          <a:xfrm>
            <a:off x="4617720" y="5029200"/>
            <a:ext cx="324612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8092440" y="3968496"/>
            <a:ext cx="0" cy="950976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40" name="Image 7" descr="/home/claude/assets/green/broadcas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1040" y="3950208"/>
            <a:ext cx="274320" cy="274320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8732520" y="389534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Queue</a:t>
            </a:r>
            <a:endParaRPr lang="en-US" sz="1200" dirty="0"/>
          </a:p>
        </p:txBody>
      </p:sp>
      <p:sp>
        <p:nvSpPr>
          <p:cNvPr id="42" name="Text 32"/>
          <p:cNvSpPr/>
          <p:nvPr/>
        </p:nvSpPr>
        <p:spPr>
          <a:xfrm>
            <a:off x="8321040" y="4261104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WebSocket updates — zero manual refresh.</a:t>
            </a:r>
            <a:endParaRPr lang="en-US" sz="980" dirty="0"/>
          </a:p>
        </p:txBody>
      </p:sp>
      <p:sp>
        <p:nvSpPr>
          <p:cNvPr id="43" name="Shape 33"/>
          <p:cNvSpPr/>
          <p:nvPr/>
        </p:nvSpPr>
        <p:spPr>
          <a:xfrm>
            <a:off x="8321040" y="5029200"/>
            <a:ext cx="324612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44" name="Image 8" descr="/home/claude/assets/green/sca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17720" y="5157216"/>
            <a:ext cx="274320" cy="27432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29200" y="510235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Procurement</a:t>
            </a:r>
            <a:endParaRPr lang="en-US" sz="1200" dirty="0"/>
          </a:p>
        </p:txBody>
      </p:sp>
      <p:sp>
        <p:nvSpPr>
          <p:cNvPr id="46" name="Text 35"/>
          <p:cNvSpPr/>
          <p:nvPr/>
        </p:nvSpPr>
        <p:spPr>
          <a:xfrm>
            <a:off x="4617720" y="546811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grades crop digitally; receipt auto-generated.</a:t>
            </a:r>
            <a:endParaRPr lang="en-US" sz="980" dirty="0"/>
          </a:p>
        </p:txBody>
      </p:sp>
      <p:sp>
        <p:nvSpPr>
          <p:cNvPr id="47" name="Shape 36"/>
          <p:cNvSpPr/>
          <p:nvPr/>
        </p:nvSpPr>
        <p:spPr>
          <a:xfrm>
            <a:off x="8092440" y="5175504"/>
            <a:ext cx="0" cy="950976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48" name="Image 9" descr="/home/claude/assets/green/rupe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1040" y="5157216"/>
            <a:ext cx="274320" cy="274320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8732520" y="510235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Tracking</a:t>
            </a:r>
            <a:endParaRPr lang="en-US" sz="1200" dirty="0"/>
          </a:p>
        </p:txBody>
      </p:sp>
      <p:sp>
        <p:nvSpPr>
          <p:cNvPr id="50" name="Text 38"/>
          <p:cNvSpPr/>
          <p:nvPr/>
        </p:nvSpPr>
        <p:spPr>
          <a:xfrm>
            <a:off x="8321040" y="5468112"/>
            <a:ext cx="3246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 tracked PENDING → PROCESSING → COMPLETED.</a:t>
            </a:r>
            <a:endParaRPr lang="en-US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EXPERIENCE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Farmer Journey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booking a slot at home to receiving MSP payment — seven steps, zero paperwork.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" y="3566160"/>
            <a:ext cx="10637215" cy="0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465576"/>
            <a:ext cx="0" cy="201168"/>
          </a:xfrm>
          <a:prstGeom prst="line">
            <a:avLst/>
          </a:prstGeom>
          <a:noFill/>
          <a:ln w="31750">
            <a:solidFill>
              <a:srgbClr val="D9AE5F"/>
            </a:solidFill>
            <a:prstDash val="solid"/>
          </a:ln>
        </p:spPr>
      </p:sp>
      <p:pic>
        <p:nvPicPr>
          <p:cNvPr id="12" name="Image 1" descr="/home/claude/assets/saffron/userAd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6974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11480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82880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137160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signs up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550109" y="3465576"/>
            <a:ext cx="0" cy="201168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pic>
        <p:nvPicPr>
          <p:cNvPr id="17" name="Image 2" descr="/home/claude/assets/muted/map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373" y="26974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184349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955749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Centre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910029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nearby Mandi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322978" y="3465576"/>
            <a:ext cx="0" cy="201168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pic>
        <p:nvPicPr>
          <p:cNvPr id="22" name="Image 3" descr="/home/claude/assets/muted/calend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9242" y="269748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957218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3728618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Slot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3682898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AI-ranked time slots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6095848" y="3465576"/>
            <a:ext cx="0" cy="201168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pic>
        <p:nvPicPr>
          <p:cNvPr id="27" name="Image 4" descr="/home/claude/assets/muted/tick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2112" y="269748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730088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501488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Token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5455768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digital token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868717" y="3465576"/>
            <a:ext cx="0" cy="201168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pic>
        <p:nvPicPr>
          <p:cNvPr id="32" name="Image 5" descr="/home/claude/assets/muted/broadcas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4981" y="269748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502957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7274357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Queue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7228637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position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9641586" y="3465576"/>
            <a:ext cx="0" cy="201168"/>
          </a:xfrm>
          <a:prstGeom prst="line">
            <a:avLst/>
          </a:prstGeom>
          <a:noFill/>
          <a:ln w="19050">
            <a:solidFill>
              <a:srgbClr val="1E5A41"/>
            </a:solidFill>
            <a:prstDash val="solid"/>
          </a:ln>
        </p:spPr>
      </p:sp>
      <p:pic>
        <p:nvPicPr>
          <p:cNvPr id="37" name="Image 6" descr="/home/claude/assets/muted/sca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7850" y="2697480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275826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0"/>
          <p:cNvSpPr/>
          <p:nvPr/>
        </p:nvSpPr>
        <p:spPr>
          <a:xfrm>
            <a:off x="9047226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150" dirty="0"/>
          </a:p>
        </p:txBody>
      </p:sp>
      <p:sp>
        <p:nvSpPr>
          <p:cNvPr id="40" name="Text 31"/>
          <p:cNvSpPr/>
          <p:nvPr/>
        </p:nvSpPr>
        <p:spPr>
          <a:xfrm>
            <a:off x="9001506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grading</a:t>
            </a:r>
            <a:endParaRPr lang="en-US" sz="900" dirty="0"/>
          </a:p>
        </p:txBody>
      </p:sp>
      <p:sp>
        <p:nvSpPr>
          <p:cNvPr id="41" name="Shape 32"/>
          <p:cNvSpPr/>
          <p:nvPr/>
        </p:nvSpPr>
        <p:spPr>
          <a:xfrm>
            <a:off x="11414455" y="3465576"/>
            <a:ext cx="0" cy="201168"/>
          </a:xfrm>
          <a:prstGeom prst="line">
            <a:avLst/>
          </a:prstGeom>
          <a:noFill/>
          <a:ln w="31750">
            <a:solidFill>
              <a:srgbClr val="D9AE5F"/>
            </a:solidFill>
            <a:prstDash val="solid"/>
          </a:ln>
        </p:spPr>
      </p:sp>
      <p:pic>
        <p:nvPicPr>
          <p:cNvPr id="42" name="Image 7" descr="/home/claude/assets/saffron/rupe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40719" y="2697480"/>
            <a:ext cx="347472" cy="347472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11048695" y="233172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10820095" y="38221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150" dirty="0"/>
          </a:p>
        </p:txBody>
      </p:sp>
      <p:sp>
        <p:nvSpPr>
          <p:cNvPr id="45" name="Text 35"/>
          <p:cNvSpPr/>
          <p:nvPr/>
        </p:nvSpPr>
        <p:spPr>
          <a:xfrm>
            <a:off x="10774375" y="411480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 tracked live</a:t>
            </a:r>
            <a:endParaRPr lang="en-US" sz="900" dirty="0"/>
          </a:p>
        </p:txBody>
      </p:sp>
      <p:sp>
        <p:nvSpPr>
          <p:cNvPr id="46" name="Shape 36"/>
          <p:cNvSpPr/>
          <p:nvPr/>
        </p:nvSpPr>
        <p:spPr>
          <a:xfrm>
            <a:off x="777240" y="5257800"/>
            <a:ext cx="10637215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777240" y="5486400"/>
            <a:ext cx="10637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manual refresh   ·  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paper receipts   ·   </a:t>
            </a:r>
            <a:pPr algn="ctr" indent="0" marL="0">
              <a:buNone/>
            </a:pPr>
            <a:r>
              <a:rPr lang="en-US" sz="1250" b="1" i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 today at kisansetu-sih.vercel.app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WALKTHROUGH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&amp; Book — In Under a Minute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 from the deployed app — not mockups.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6384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12" name="Shape 9"/>
          <p:cNvSpPr/>
          <p:nvPr/>
        </p:nvSpPr>
        <p:spPr>
          <a:xfrm>
            <a:off x="932688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13" name="Shape 10"/>
          <p:cNvSpPr/>
          <p:nvPr/>
        </p:nvSpPr>
        <p:spPr>
          <a:xfrm>
            <a:off x="1078992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68096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</a:t>
            </a:r>
            <a:endParaRPr lang="en-US" sz="800" dirty="0"/>
          </a:p>
        </p:txBody>
      </p:sp>
      <p:pic>
        <p:nvPicPr>
          <p:cNvPr id="17" name="Image 1" descr="/home/claude/assets/screens/land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423160"/>
            <a:ext cx="5204308" cy="332841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55868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2172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20" name="Shape 16"/>
          <p:cNvSpPr/>
          <p:nvPr/>
        </p:nvSpPr>
        <p:spPr>
          <a:xfrm>
            <a:off x="6548476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694780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22" name="Text 18"/>
          <p:cNvSpPr/>
          <p:nvPr/>
        </p:nvSpPr>
        <p:spPr>
          <a:xfrm>
            <a:off x="6804508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Slot Recommendations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383884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24" name="Text 20"/>
          <p:cNvSpPr/>
          <p:nvPr/>
        </p:nvSpPr>
        <p:spPr>
          <a:xfrm>
            <a:off x="6475324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kisansetu-sih.vercel.app/farmer/book/recommendations</a:t>
            </a:r>
            <a:endParaRPr lang="en-US" sz="800" dirty="0"/>
          </a:p>
        </p:txBody>
      </p:sp>
      <p:pic>
        <p:nvPicPr>
          <p:cNvPr id="25" name="Image 2" descr="/home/claude/assets/screens/ai_recommendat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8251" y="2441448"/>
            <a:ext cx="2690980" cy="32369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flags its own top pick</a:t>
            </a:r>
            <a:pPr algn="ctr"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“Best Slot,” ~0 min wait, low congestion, with the reasoning shown to the farmer.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WALKTHROUGH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Farmer Experience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booking confirmation to real-time queue tracking.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6384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12" name="Shape 9"/>
          <p:cNvSpPr/>
          <p:nvPr/>
        </p:nvSpPr>
        <p:spPr>
          <a:xfrm>
            <a:off x="932688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13" name="Shape 10"/>
          <p:cNvSpPr/>
          <p:nvPr/>
        </p:nvSpPr>
        <p:spPr>
          <a:xfrm>
            <a:off x="1078992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Dashboard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68096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kisansetu-sih.vercel.app/farmer/dashboard</a:t>
            </a:r>
            <a:endParaRPr lang="en-US" sz="800" dirty="0"/>
          </a:p>
        </p:txBody>
      </p:sp>
      <p:pic>
        <p:nvPicPr>
          <p:cNvPr id="17" name="Image 1" descr="/home/claude/assets/screens/farmer_dashboar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423160"/>
            <a:ext cx="5204308" cy="332841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55868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2172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20" name="Shape 16"/>
          <p:cNvSpPr/>
          <p:nvPr/>
        </p:nvSpPr>
        <p:spPr>
          <a:xfrm>
            <a:off x="6548476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694780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22" name="Text 18"/>
          <p:cNvSpPr/>
          <p:nvPr/>
        </p:nvSpPr>
        <p:spPr>
          <a:xfrm>
            <a:off x="6804508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Queue — Token A023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383884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24" name="Text 20"/>
          <p:cNvSpPr/>
          <p:nvPr/>
        </p:nvSpPr>
        <p:spPr>
          <a:xfrm>
            <a:off x="6475324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kisansetu-sih.vercel.app/farmer/queue</a:t>
            </a:r>
            <a:endParaRPr lang="en-US" sz="800" dirty="0"/>
          </a:p>
        </p:txBody>
      </p:sp>
      <p:pic>
        <p:nvPicPr>
          <p:cNvPr id="25" name="Image 2" descr="/home/claude/assets/screens/live_queue_farm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824" y="2441448"/>
            <a:ext cx="3353834" cy="32369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names, real tokens, real ₹ amounts</a:t>
            </a:r>
            <a:pPr algn="ctr"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Rajesh Verma books, tracks, and gets paid — start to finish, live.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WALKTHROUGH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Officer Desk — Call, Grade, Pay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paper: the token call and the receipt are the same live workflow.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6384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12" name="Shape 9"/>
          <p:cNvSpPr/>
          <p:nvPr/>
        </p:nvSpPr>
        <p:spPr>
          <a:xfrm>
            <a:off x="932688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13" name="Shape 10"/>
          <p:cNvSpPr/>
          <p:nvPr/>
        </p:nvSpPr>
        <p:spPr>
          <a:xfrm>
            <a:off x="1078992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Called — Live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68096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kisansetu-sih.vercel.app/officer/queue</a:t>
            </a:r>
            <a:endParaRPr lang="en-US" sz="800" dirty="0"/>
          </a:p>
        </p:txBody>
      </p:sp>
      <p:pic>
        <p:nvPicPr>
          <p:cNvPr id="17" name="Image 1" descr="/home/claude/assets/screens/token_call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423160"/>
            <a:ext cx="5204308" cy="332841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55868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2172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20" name="Shape 16"/>
          <p:cNvSpPr/>
          <p:nvPr/>
        </p:nvSpPr>
        <p:spPr>
          <a:xfrm>
            <a:off x="6548476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694780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22" name="Text 18"/>
          <p:cNvSpPr/>
          <p:nvPr/>
        </p:nvSpPr>
        <p:spPr>
          <a:xfrm>
            <a:off x="6804508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B3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J-Form Receipt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383884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24" name="Text 20"/>
          <p:cNvSpPr/>
          <p:nvPr/>
        </p:nvSpPr>
        <p:spPr>
          <a:xfrm>
            <a:off x="6475324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kisansetu-sih.vercel.app/officer/receipt/RCP-DOCA-8779248</a:t>
            </a:r>
            <a:endParaRPr lang="en-US" sz="800" dirty="0"/>
          </a:p>
        </p:txBody>
      </p:sp>
      <p:pic>
        <p:nvPicPr>
          <p:cNvPr id="25" name="Image 2" descr="/home/claude/assets/screens/digital_receip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787" y="2441448"/>
            <a:ext cx="2403908" cy="32369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RCP-DOCA-8779248</a:t>
            </a:r>
            <a:pPr algn="ctr"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50 Qtl Wheat, Grade A, ₹1,13,750 paid via Direct Benefit Transfer.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WALKTHROUGH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Control Room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oversight, benchmarked against live government market data.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6384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12" name="Shape 9"/>
          <p:cNvSpPr/>
          <p:nvPr/>
        </p:nvSpPr>
        <p:spPr>
          <a:xfrm>
            <a:off x="932688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13" name="Shape 10"/>
          <p:cNvSpPr/>
          <p:nvPr/>
        </p:nvSpPr>
        <p:spPr>
          <a:xfrm>
            <a:off x="1078992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3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KPI Dashboard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68096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16" name="Text 13"/>
          <p:cNvSpPr/>
          <p:nvPr/>
        </p:nvSpPr>
        <p:spPr>
          <a:xfrm>
            <a:off x="859536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kisansetu-sih.vercel.app/admin/analytics</a:t>
            </a:r>
            <a:endParaRPr lang="en-US" sz="800" dirty="0"/>
          </a:p>
        </p:txBody>
      </p:sp>
      <p:pic>
        <p:nvPicPr>
          <p:cNvPr id="17" name="Image 1" descr="/home/claude/assets/screens/admin_analytic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423160"/>
            <a:ext cx="5204308" cy="3328416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255868" y="1874520"/>
            <a:ext cx="5295748" cy="3931920"/>
          </a:xfrm>
          <a:prstGeom prst="roundRect">
            <a:avLst>
              <a:gd name="adj" fmla="val 1047"/>
            </a:avLst>
          </a:prstGeom>
          <a:solidFill>
            <a:srgbClr val="FFFFFF"/>
          </a:solidFill>
          <a:ln w="9525">
            <a:solidFill>
              <a:srgbClr val="1E5A4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2172" y="1984248"/>
            <a:ext cx="82296" cy="82296"/>
          </a:xfrm>
          <a:prstGeom prst="ellipse">
            <a:avLst/>
          </a:prstGeom>
          <a:solidFill>
            <a:srgbClr val="EB6B5B"/>
          </a:solidFill>
          <a:ln/>
        </p:spPr>
      </p:sp>
      <p:sp>
        <p:nvSpPr>
          <p:cNvPr id="20" name="Shape 16"/>
          <p:cNvSpPr/>
          <p:nvPr/>
        </p:nvSpPr>
        <p:spPr>
          <a:xfrm>
            <a:off x="6548476" y="1984248"/>
            <a:ext cx="82296" cy="82296"/>
          </a:xfrm>
          <a:prstGeom prst="ellipse">
            <a:avLst/>
          </a:prstGeom>
          <a:solidFill>
            <a:srgbClr val="F4BF4F"/>
          </a:solidFill>
          <a:ln/>
        </p:spPr>
      </p:sp>
      <p:sp>
        <p:nvSpPr>
          <p:cNvPr id="21" name="Shape 17"/>
          <p:cNvSpPr/>
          <p:nvPr/>
        </p:nvSpPr>
        <p:spPr>
          <a:xfrm>
            <a:off x="6694780" y="1984248"/>
            <a:ext cx="82296" cy="82296"/>
          </a:xfrm>
          <a:prstGeom prst="ellipse">
            <a:avLst/>
          </a:prstGeom>
          <a:solidFill>
            <a:srgbClr val="61C454"/>
          </a:solidFill>
          <a:ln/>
        </p:spPr>
      </p:sp>
      <p:sp>
        <p:nvSpPr>
          <p:cNvPr id="22" name="Text 18"/>
          <p:cNvSpPr/>
          <p:nvPr/>
        </p:nvSpPr>
        <p:spPr>
          <a:xfrm>
            <a:off x="6804508" y="1915668"/>
            <a:ext cx="45642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Govt. Agmarknet Data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383884" y="2148840"/>
            <a:ext cx="5039716" cy="219456"/>
          </a:xfrm>
          <a:prstGeom prst="roundRect">
            <a:avLst>
              <a:gd name="adj" fmla="val 25000"/>
            </a:avLst>
          </a:prstGeom>
          <a:solidFill>
            <a:srgbClr val="F0EEE6"/>
          </a:solidFill>
          <a:ln/>
        </p:spPr>
      </p:sp>
      <p:sp>
        <p:nvSpPr>
          <p:cNvPr id="24" name="Text 20"/>
          <p:cNvSpPr/>
          <p:nvPr/>
        </p:nvSpPr>
        <p:spPr>
          <a:xfrm>
            <a:off x="6475324" y="2148840"/>
            <a:ext cx="48568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kisansetu-sih.vercel.app/admin/agmarknet</a:t>
            </a:r>
            <a:endParaRPr lang="en-US" sz="800" dirty="0"/>
          </a:p>
        </p:txBody>
      </p:sp>
      <p:pic>
        <p:nvPicPr>
          <p:cNvPr id="25" name="Image 2" descr="/home/claude/assets/screens/agmarknet_price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1588" y="2423160"/>
            <a:ext cx="5204308" cy="332841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against the real Agmarknet feed</a:t>
            </a:r>
            <a:pPr algn="ctr"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automatically flags mandi prices trading below official MSP.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B886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DDD5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64592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10" name="Image 1" descr="/home/claude/assets/green/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83664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78992" y="1828800"/>
            <a:ext cx="20878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640080" y="2395728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Next.js 16 (TypeScript)</a:t>
            </a:r>
            <a:endParaRPr lang="en-US" sz="1060" dirty="0"/>
          </a:p>
        </p:txBody>
      </p:sp>
      <p:sp>
        <p:nvSpPr>
          <p:cNvPr id="13" name="Text 9"/>
          <p:cNvSpPr/>
          <p:nvPr/>
        </p:nvSpPr>
        <p:spPr>
          <a:xfrm>
            <a:off x="640080" y="2798064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Tailwind CSS</a:t>
            </a:r>
            <a:endParaRPr lang="en-US" sz="1060" dirty="0"/>
          </a:p>
        </p:txBody>
      </p:sp>
      <p:sp>
        <p:nvSpPr>
          <p:cNvPr id="14" name="Text 10"/>
          <p:cNvSpPr/>
          <p:nvPr/>
        </p:nvSpPr>
        <p:spPr>
          <a:xfrm>
            <a:off x="640080" y="3200400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App Router</a:t>
            </a:r>
            <a:endParaRPr lang="en-US" sz="1060" dirty="0"/>
          </a:p>
        </p:txBody>
      </p:sp>
      <p:sp>
        <p:nvSpPr>
          <p:cNvPr id="15" name="Text 11"/>
          <p:cNvSpPr/>
          <p:nvPr/>
        </p:nvSpPr>
        <p:spPr>
          <a:xfrm>
            <a:off x="640080" y="3602736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WebSocket client</a:t>
            </a:r>
            <a:endParaRPr lang="en-US" sz="1060" dirty="0"/>
          </a:p>
        </p:txBody>
      </p:sp>
      <p:sp>
        <p:nvSpPr>
          <p:cNvPr id="16" name="Shape 12"/>
          <p:cNvSpPr/>
          <p:nvPr/>
        </p:nvSpPr>
        <p:spPr>
          <a:xfrm>
            <a:off x="3367964" y="1828800"/>
            <a:ext cx="0" cy="283464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17" name="Image 2" descr="/home/claude/assets/green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04" y="1883664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26916" y="1828800"/>
            <a:ext cx="20878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3688004" y="2395728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FastAPI (Python 3.13)</a:t>
            </a:r>
            <a:endParaRPr lang="en-US" sz="1060" dirty="0"/>
          </a:p>
        </p:txBody>
      </p:sp>
      <p:sp>
        <p:nvSpPr>
          <p:cNvPr id="20" name="Text 15"/>
          <p:cNvSpPr/>
          <p:nvPr/>
        </p:nvSpPr>
        <p:spPr>
          <a:xfrm>
            <a:off x="3688004" y="2798064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SQLAlchemy 2.0 async</a:t>
            </a:r>
            <a:endParaRPr lang="en-US" sz="1060" dirty="0"/>
          </a:p>
        </p:txBody>
      </p:sp>
      <p:sp>
        <p:nvSpPr>
          <p:cNvPr id="21" name="Text 16"/>
          <p:cNvSpPr/>
          <p:nvPr/>
        </p:nvSpPr>
        <p:spPr>
          <a:xfrm>
            <a:off x="3688004" y="3200400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Pydantic v2</a:t>
            </a:r>
            <a:endParaRPr lang="en-US" sz="1060" dirty="0"/>
          </a:p>
        </p:txBody>
      </p:sp>
      <p:sp>
        <p:nvSpPr>
          <p:cNvPr id="22" name="Text 17"/>
          <p:cNvSpPr/>
          <p:nvPr/>
        </p:nvSpPr>
        <p:spPr>
          <a:xfrm>
            <a:off x="3688004" y="3602736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JWT auth</a:t>
            </a:r>
            <a:endParaRPr lang="en-US" sz="1060" dirty="0"/>
          </a:p>
        </p:txBody>
      </p:sp>
      <p:sp>
        <p:nvSpPr>
          <p:cNvPr id="23" name="Shape 18"/>
          <p:cNvSpPr/>
          <p:nvPr/>
        </p:nvSpPr>
        <p:spPr>
          <a:xfrm>
            <a:off x="6095848" y="1828800"/>
            <a:ext cx="0" cy="283464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24" name="Image 3" descr="/home/claude/assets/green/databas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88" y="1883664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54800" y="1828800"/>
            <a:ext cx="20878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6415888" y="2395728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SQLite (dev)</a:t>
            </a:r>
            <a:endParaRPr lang="en-US" sz="1060" dirty="0"/>
          </a:p>
        </p:txBody>
      </p:sp>
      <p:sp>
        <p:nvSpPr>
          <p:cNvPr id="27" name="Text 21"/>
          <p:cNvSpPr/>
          <p:nvPr/>
        </p:nvSpPr>
        <p:spPr>
          <a:xfrm>
            <a:off x="6415888" y="2798064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PostgreSQL (prod)</a:t>
            </a:r>
            <a:endParaRPr lang="en-US" sz="1060" dirty="0"/>
          </a:p>
        </p:txBody>
      </p:sp>
      <p:sp>
        <p:nvSpPr>
          <p:cNvPr id="28" name="Text 22"/>
          <p:cNvSpPr/>
          <p:nvPr/>
        </p:nvSpPr>
        <p:spPr>
          <a:xfrm>
            <a:off x="6415888" y="3200400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Supabase CLI</a:t>
            </a:r>
            <a:endParaRPr lang="en-US" sz="1060" dirty="0"/>
          </a:p>
        </p:txBody>
      </p:sp>
      <p:sp>
        <p:nvSpPr>
          <p:cNvPr id="29" name="Text 23"/>
          <p:cNvSpPr/>
          <p:nvPr/>
        </p:nvSpPr>
        <p:spPr>
          <a:xfrm>
            <a:off x="6415888" y="3602736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Zero-downtime store</a:t>
            </a:r>
            <a:endParaRPr lang="en-US" sz="1060" dirty="0"/>
          </a:p>
        </p:txBody>
      </p:sp>
      <p:sp>
        <p:nvSpPr>
          <p:cNvPr id="30" name="Shape 24"/>
          <p:cNvSpPr/>
          <p:nvPr/>
        </p:nvSpPr>
        <p:spPr>
          <a:xfrm>
            <a:off x="8823731" y="1828800"/>
            <a:ext cx="0" cy="283464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31" name="Image 4" descr="/home/claude/assets/green/clou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1" y="1883664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582683" y="1828800"/>
            <a:ext cx="20878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 &amp; CI/CD</a:t>
            </a:r>
            <a:endParaRPr lang="en-US" sz="1550" dirty="0"/>
          </a:p>
        </p:txBody>
      </p:sp>
      <p:sp>
        <p:nvSpPr>
          <p:cNvPr id="33" name="Text 26"/>
          <p:cNvSpPr/>
          <p:nvPr/>
        </p:nvSpPr>
        <p:spPr>
          <a:xfrm>
            <a:off x="9143771" y="2395728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Docker Compose</a:t>
            </a:r>
            <a:endParaRPr lang="en-US" sz="1060" dirty="0"/>
          </a:p>
        </p:txBody>
      </p:sp>
      <p:sp>
        <p:nvSpPr>
          <p:cNvPr id="34" name="Text 27"/>
          <p:cNvSpPr/>
          <p:nvPr/>
        </p:nvSpPr>
        <p:spPr>
          <a:xfrm>
            <a:off x="9143771" y="2798064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GitHub Actions CI/CD</a:t>
            </a:r>
            <a:endParaRPr lang="en-US" sz="1060" dirty="0"/>
          </a:p>
        </p:txBody>
      </p:sp>
      <p:sp>
        <p:nvSpPr>
          <p:cNvPr id="35" name="Text 28"/>
          <p:cNvSpPr/>
          <p:nvPr/>
        </p:nvSpPr>
        <p:spPr>
          <a:xfrm>
            <a:off x="9143771" y="3200400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Vercel deploy</a:t>
            </a:r>
            <a:endParaRPr lang="en-US" sz="1060" dirty="0"/>
          </a:p>
        </p:txBody>
      </p:sp>
      <p:sp>
        <p:nvSpPr>
          <p:cNvPr id="36" name="Text 29"/>
          <p:cNvSpPr/>
          <p:nvPr/>
        </p:nvSpPr>
        <p:spPr>
          <a:xfrm>
            <a:off x="9143771" y="3602736"/>
            <a:ext cx="22249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Tray Notifier daemon</a:t>
            </a:r>
            <a:endParaRPr lang="en-US" sz="1060" dirty="0"/>
          </a:p>
        </p:txBody>
      </p:sp>
      <p:sp>
        <p:nvSpPr>
          <p:cNvPr id="37" name="Shape 30"/>
          <p:cNvSpPr/>
          <p:nvPr/>
        </p:nvSpPr>
        <p:spPr>
          <a:xfrm>
            <a:off x="640080" y="5074920"/>
            <a:ext cx="10911535" cy="105156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8" name="Shape 31"/>
          <p:cNvSpPr/>
          <p:nvPr/>
        </p:nvSpPr>
        <p:spPr>
          <a:xfrm>
            <a:off x="640080" y="5074920"/>
            <a:ext cx="10911535" cy="32004"/>
          </a:xfrm>
          <a:prstGeom prst="rect">
            <a:avLst/>
          </a:prstGeom>
          <a:solidFill>
            <a:srgbClr val="D9AE5F"/>
          </a:solidFill>
          <a:ln/>
        </p:spPr>
      </p:sp>
      <p:sp>
        <p:nvSpPr>
          <p:cNvPr id="39" name="Text 32"/>
          <p:cNvSpPr/>
          <p:nvPr/>
        </p:nvSpPr>
        <p:spPr>
          <a:xfrm>
            <a:off x="640080" y="5221224"/>
            <a:ext cx="27278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500" dirty="0"/>
          </a:p>
        </p:txBody>
      </p:sp>
      <p:sp>
        <p:nvSpPr>
          <p:cNvPr id="40" name="Text 33"/>
          <p:cNvSpPr/>
          <p:nvPr/>
        </p:nvSpPr>
        <p:spPr>
          <a:xfrm>
            <a:off x="640080" y="5715000"/>
            <a:ext cx="2727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MODULES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3367964" y="5276088"/>
            <a:ext cx="0" cy="649224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42" name="Text 35"/>
          <p:cNvSpPr/>
          <p:nvPr/>
        </p:nvSpPr>
        <p:spPr>
          <a:xfrm>
            <a:off x="3367964" y="5221224"/>
            <a:ext cx="27278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500" dirty="0"/>
          </a:p>
        </p:txBody>
      </p:sp>
      <p:sp>
        <p:nvSpPr>
          <p:cNvPr id="43" name="Text 36"/>
          <p:cNvSpPr/>
          <p:nvPr/>
        </p:nvSpPr>
        <p:spPr>
          <a:xfrm>
            <a:off x="3367964" y="5715000"/>
            <a:ext cx="2727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MODELS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095848" y="5276088"/>
            <a:ext cx="0" cy="649224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6095848" y="5221224"/>
            <a:ext cx="27278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500" dirty="0"/>
          </a:p>
        </p:txBody>
      </p:sp>
      <p:sp>
        <p:nvSpPr>
          <p:cNvPr id="46" name="Text 39"/>
          <p:cNvSpPr/>
          <p:nvPr/>
        </p:nvSpPr>
        <p:spPr>
          <a:xfrm>
            <a:off x="6095848" y="5715000"/>
            <a:ext cx="2727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CHANNELS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823731" y="5276088"/>
            <a:ext cx="0" cy="649224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8823731" y="5221224"/>
            <a:ext cx="27278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/ 13</a:t>
            </a:r>
            <a:endParaRPr lang="en-US" sz="2500" dirty="0"/>
          </a:p>
        </p:txBody>
      </p:sp>
      <p:sp>
        <p:nvSpPr>
          <p:cNvPr id="49" name="Text 42"/>
          <p:cNvSpPr/>
          <p:nvPr/>
        </p:nvSpPr>
        <p:spPr>
          <a:xfrm>
            <a:off x="8823731" y="5715000"/>
            <a:ext cx="2727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OF KISANSETU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B886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Recommendation Engine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8132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scoring pipeline ranks every open slot in real time.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DDD5C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929384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2084832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pic>
        <p:nvPicPr>
          <p:cNvPr id="12" name="Image 1" descr="/home/claude/assets/green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139696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20574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Wait Time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846320" y="2103120"/>
            <a:ext cx="0" cy="658368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74920" y="2057400"/>
            <a:ext cx="6430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= (queue_length × avg_processing_min × crop_complexity) / active_counters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40080" y="288036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301752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pic>
        <p:nvPicPr>
          <p:cNvPr id="18" name="Image 2" descr="/home/claude/assets/green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3072384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2990088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Score (0–100)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846320" y="3035808"/>
            <a:ext cx="0" cy="658368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074920" y="2990088"/>
            <a:ext cx="6430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 = 0.4×(booked/capacity) + 0.4×(queue/daily_target) + 0.2×(wait/60)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40080" y="3813048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640080" y="395020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pic>
        <p:nvPicPr>
          <p:cNvPr id="24" name="Image 3" descr="/home/claude/assets/green/robo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005072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3922776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&amp; Recommend Top-3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4846320" y="3968496"/>
            <a:ext cx="0" cy="658368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074920" y="3922776"/>
            <a:ext cx="64309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B3D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slot_score = 0.5×occupancy + 0.3×(wait/120) + 0.2×(congestion/100)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640080" y="4946904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40080" y="511149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LABEL SCALE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4206240" y="5138928"/>
            <a:ext cx="201168" cy="201168"/>
          </a:xfrm>
          <a:prstGeom prst="rect">
            <a:avLst/>
          </a:prstGeom>
          <a:solidFill>
            <a:srgbClr val="3F7A4C"/>
          </a:solidFill>
          <a:ln/>
        </p:spPr>
      </p:sp>
      <p:sp>
        <p:nvSpPr>
          <p:cNvPr id="31" name="Text 25"/>
          <p:cNvSpPr/>
          <p:nvPr/>
        </p:nvSpPr>
        <p:spPr>
          <a:xfrm>
            <a:off x="4498848" y="508406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806440" y="5138928"/>
            <a:ext cx="201168" cy="201168"/>
          </a:xfrm>
          <a:prstGeom prst="rect">
            <a:avLst/>
          </a:prstGeom>
          <a:solidFill>
            <a:srgbClr val="B8862E"/>
          </a:solidFill>
          <a:ln/>
        </p:spPr>
      </p:sp>
      <p:sp>
        <p:nvSpPr>
          <p:cNvPr id="33" name="Text 27"/>
          <p:cNvSpPr/>
          <p:nvPr/>
        </p:nvSpPr>
        <p:spPr>
          <a:xfrm>
            <a:off x="6099048" y="508406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406640" y="5138928"/>
            <a:ext cx="201168" cy="201168"/>
          </a:xfrm>
          <a:prstGeom prst="rect">
            <a:avLst/>
          </a:prstGeom>
          <a:solidFill>
            <a:srgbClr val="C56A2E"/>
          </a:solidFill>
          <a:ln/>
        </p:spPr>
      </p:sp>
      <p:sp>
        <p:nvSpPr>
          <p:cNvPr id="35" name="Text 29"/>
          <p:cNvSpPr/>
          <p:nvPr/>
        </p:nvSpPr>
        <p:spPr>
          <a:xfrm>
            <a:off x="7699248" y="508406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9006840" y="5138928"/>
            <a:ext cx="201168" cy="201168"/>
          </a:xfrm>
          <a:prstGeom prst="rect">
            <a:avLst/>
          </a:prstGeom>
          <a:solidFill>
            <a:srgbClr val="9B3B30"/>
          </a:solidFill>
          <a:ln/>
        </p:spPr>
      </p:sp>
      <p:sp>
        <p:nvSpPr>
          <p:cNvPr id="37" name="Text 31"/>
          <p:cNvSpPr/>
          <p:nvPr/>
        </p:nvSpPr>
        <p:spPr>
          <a:xfrm>
            <a:off x="9299448" y="5084064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1100" dirty="0"/>
          </a:p>
        </p:txBody>
      </p:sp>
      <p:sp>
        <p:nvSpPr>
          <p:cNvPr id="38" name="Text 32"/>
          <p:cNvSpPr/>
          <p:nvPr/>
        </p:nvSpPr>
        <p:spPr>
          <a:xfrm>
            <a:off x="640080" y="5495544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30" i="1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top-3 slots with a human-readable reason for every recommendation.</a:t>
            </a:r>
            <a:endParaRPr lang="en-US" sz="10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B886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&amp; Risk Mitigation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DDD5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349240" y="1783080"/>
            <a:ext cx="0" cy="443484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830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1100" dirty="0"/>
          </a:p>
        </p:txBody>
      </p:sp>
      <p:pic>
        <p:nvPicPr>
          <p:cNvPr id="11" name="Image 1" descr="/home/claude/assets/green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6712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05840" y="2112264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is proven, open-source &amp; free-tier deployable (Vercel + Supabase)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2953512"/>
            <a:ext cx="44805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14" name="Image 2" descr="/home/claude/assets/green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6324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05840" y="3008376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launcher boots Backend, Frontend &amp; Tray Notifier concurrently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0080" y="3849624"/>
            <a:ext cx="44805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17" name="Image 3" descr="/home/claude/assets/green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9352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05840" y="3904488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auto-refreshes 14-day slot schedules — zero cloud shutdown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4745736"/>
            <a:ext cx="44805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20" name="Image 4" descr="/home/claude/assets/green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55464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05840" y="4800600"/>
            <a:ext cx="41148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7,000+ APMC Mandis via PostgreSQL read-replicas &amp; caching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5715000" y="17830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 →  MITIGATIONS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5715000" y="22402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B3B30"/>
                </a:solidFill>
              </a:rPr>
              <a:t>CHALLENGE   </a:t>
            </a:r>
            <a:pPr indent="0" marL="0">
              <a:buNone/>
            </a:pPr>
            <a:r>
              <a:rPr lang="en-US" sz="1150" b="1" dirty="0">
                <a:solidFill>
                  <a:srgbClr val="16241C"/>
                </a:solidFill>
              </a:rPr>
              <a:t>Low smartphone penetration in rural areas</a:t>
            </a:r>
            <a:endParaRPr lang="en-US" sz="950" dirty="0"/>
          </a:p>
        </p:txBody>
      </p:sp>
      <p:sp>
        <p:nvSpPr>
          <p:cNvPr id="24" name="Text 17"/>
          <p:cNvSpPr/>
          <p:nvPr/>
        </p:nvSpPr>
        <p:spPr>
          <a:xfrm>
            <a:off x="5715000" y="26060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spc="100" kern="0" dirty="0">
                <a:solidFill>
                  <a:srgbClr val="3F7A4C"/>
                </a:solidFill>
              </a:rPr>
              <a:t>SOLUTION   </a:t>
            </a:r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6E"/>
                </a:solidFill>
              </a:rPr>
              <a:t>Multi-channel SMS (ADB USB bridge + MSG91 DLT) reaches any 2G phone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5715000" y="3300984"/>
            <a:ext cx="58521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715000" y="3447288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B3B30"/>
                </a:solidFill>
              </a:rPr>
              <a:t>CHALLENGE   </a:t>
            </a:r>
            <a:pPr indent="0" marL="0">
              <a:buNone/>
            </a:pPr>
            <a:r>
              <a:rPr lang="en-US" sz="1150" b="1" dirty="0">
                <a:solidFill>
                  <a:srgbClr val="16241C"/>
                </a:solidFill>
              </a:rPr>
              <a:t>Internet / server downtime at remote Mandis</a:t>
            </a:r>
            <a:endParaRPr lang="en-US" sz="950" dirty="0"/>
          </a:p>
        </p:txBody>
      </p:sp>
      <p:sp>
        <p:nvSpPr>
          <p:cNvPr id="27" name="Text 20"/>
          <p:cNvSpPr/>
          <p:nvPr/>
        </p:nvSpPr>
        <p:spPr>
          <a:xfrm>
            <a:off x="5715000" y="3813048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spc="100" kern="0" dirty="0">
                <a:solidFill>
                  <a:srgbClr val="3F7A4C"/>
                </a:solidFill>
              </a:rPr>
              <a:t>SOLUTION   </a:t>
            </a:r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6E"/>
                </a:solidFill>
              </a:rPr>
              <a:t>Resilient dual-layer store (local SQLite / Next.js store) — 100% offline uptime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715000" y="4507992"/>
            <a:ext cx="5852160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5715000" y="4654296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B3B30"/>
                </a:solidFill>
              </a:rPr>
              <a:t>CHALLENGE   </a:t>
            </a:r>
            <a:pPr indent="0" marL="0">
              <a:buNone/>
            </a:pPr>
            <a:r>
              <a:rPr lang="en-US" sz="1150" b="1" dirty="0">
                <a:solidFill>
                  <a:srgbClr val="16241C"/>
                </a:solidFill>
              </a:rPr>
              <a:t>Farmer adoption &amp; digital literacy</a:t>
            </a:r>
            <a:endParaRPr lang="en-US" sz="950" dirty="0"/>
          </a:p>
        </p:txBody>
      </p:sp>
      <p:sp>
        <p:nvSpPr>
          <p:cNvPr id="30" name="Text 23"/>
          <p:cNvSpPr/>
          <p:nvPr/>
        </p:nvSpPr>
        <p:spPr>
          <a:xfrm>
            <a:off x="5715000" y="5020056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b="1" spc="100" kern="0" dirty="0">
                <a:solidFill>
                  <a:srgbClr val="3F7A4C"/>
                </a:solidFill>
              </a:rPr>
              <a:t>SOLUTION   </a:t>
            </a:r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6E"/>
                </a:solidFill>
              </a:rPr>
              <a:t>Hindi / Gujarati regional UI, bilingual audio token calls, Mandi helper desk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IMPACT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D9AE5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1E5A4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591056"/>
            <a:ext cx="10911535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737360"/>
            <a:ext cx="32714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23.3%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640080" y="2450592"/>
            <a:ext cx="32714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WAIT-TIME REDUCTION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724912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min  →  185 min (simulation)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4277258" y="1783080"/>
            <a:ext cx="0" cy="141732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97298" y="1737360"/>
            <a:ext cx="32714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7,000+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4597298" y="2450592"/>
            <a:ext cx="32714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APMC MANDIS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97298" y="2724912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India via read-replicas</a:t>
            </a:r>
            <a:endParaRPr lang="en-US" sz="980" dirty="0"/>
          </a:p>
        </p:txBody>
      </p:sp>
      <p:sp>
        <p:nvSpPr>
          <p:cNvPr id="17" name="Shape 14"/>
          <p:cNvSpPr/>
          <p:nvPr/>
        </p:nvSpPr>
        <p:spPr>
          <a:xfrm>
            <a:off x="7914437" y="1783080"/>
            <a:ext cx="0" cy="141732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4477" y="1737360"/>
            <a:ext cx="3271418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Paper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8234477" y="2450592"/>
            <a:ext cx="32714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STATUS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34477" y="2724912"/>
            <a:ext cx="327141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Mandis · 19 crops · 13/13 tests</a:t>
            </a:r>
            <a:endParaRPr lang="en-US" sz="980" dirty="0"/>
          </a:p>
        </p:txBody>
      </p:sp>
      <p:sp>
        <p:nvSpPr>
          <p:cNvPr id="21" name="Shape 18"/>
          <p:cNvSpPr/>
          <p:nvPr/>
        </p:nvSpPr>
        <p:spPr>
          <a:xfrm>
            <a:off x="640080" y="3355848"/>
            <a:ext cx="10911535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pic>
        <p:nvPicPr>
          <p:cNvPr id="22" name="Image 1" descr="/home/claude/assets/saffron/seed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566160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51560" y="3520440"/>
            <a:ext cx="29513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Impact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40080" y="408736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12–48 hr tractor roadblocks at peak harvest</a:t>
            </a:r>
            <a:endParaRPr lang="en-US" sz="1030" dirty="0"/>
          </a:p>
        </p:txBody>
      </p:sp>
      <p:sp>
        <p:nvSpPr>
          <p:cNvPr id="25" name="Text 21"/>
          <p:cNvSpPr/>
          <p:nvPr/>
        </p:nvSpPr>
        <p:spPr>
          <a:xfrm>
            <a:off x="640080" y="495604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post-harvest spoilage from open-air queue delays</a:t>
            </a:r>
            <a:endParaRPr lang="en-US" sz="1030" dirty="0"/>
          </a:p>
        </p:txBody>
      </p:sp>
      <p:sp>
        <p:nvSpPr>
          <p:cNvPr id="26" name="Shape 22"/>
          <p:cNvSpPr/>
          <p:nvPr/>
        </p:nvSpPr>
        <p:spPr>
          <a:xfrm>
            <a:off x="4277258" y="3520440"/>
            <a:ext cx="0" cy="260604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pic>
        <p:nvPicPr>
          <p:cNvPr id="27" name="Image 2" descr="/home/claude/assets/saffron/rup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7298" y="3566160"/>
            <a:ext cx="292608" cy="292608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008778" y="3520440"/>
            <a:ext cx="29513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 Impact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4597298" y="408736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digital J-Form receipts stop unauthorised deductions</a:t>
            </a:r>
            <a:endParaRPr lang="en-US" sz="1030" dirty="0"/>
          </a:p>
        </p:txBody>
      </p:sp>
      <p:sp>
        <p:nvSpPr>
          <p:cNvPr id="30" name="Text 25"/>
          <p:cNvSpPr/>
          <p:nvPr/>
        </p:nvSpPr>
        <p:spPr>
          <a:xfrm>
            <a:off x="4597298" y="495604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 tracking prevents middleman &amp; commission-agent leakage</a:t>
            </a:r>
            <a:endParaRPr lang="en-US" sz="1030" dirty="0"/>
          </a:p>
        </p:txBody>
      </p:sp>
      <p:sp>
        <p:nvSpPr>
          <p:cNvPr id="31" name="Shape 26"/>
          <p:cNvSpPr/>
          <p:nvPr/>
        </p:nvSpPr>
        <p:spPr>
          <a:xfrm>
            <a:off x="7914437" y="3520440"/>
            <a:ext cx="0" cy="260604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pic>
        <p:nvPicPr>
          <p:cNvPr id="32" name="Image 3" descr="/home/claude/assets/saffron/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477" y="3566160"/>
            <a:ext cx="292608" cy="29260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8645957" y="3520440"/>
            <a:ext cx="29513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Government Impact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8234477" y="408736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national KPI dashboard for DoCA &amp; Ministry officers</a:t>
            </a:r>
            <a:endParaRPr lang="en-US" sz="1030" dirty="0"/>
          </a:p>
        </p:txBody>
      </p:sp>
      <p:sp>
        <p:nvSpPr>
          <p:cNvPr id="35" name="Text 29"/>
          <p:cNvSpPr/>
          <p:nvPr/>
        </p:nvSpPr>
        <p:spPr>
          <a:xfrm>
            <a:off x="8234477" y="4956048"/>
            <a:ext cx="313425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Paperless audit trail — instant verification, weighbridge to bank</a:t>
            </a:r>
            <a:endParaRPr lang="en-US" sz="10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81945" y="457200"/>
            <a:ext cx="442823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LINKS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640080" y="832104"/>
            <a:ext cx="384048" cy="0"/>
          </a:xfrm>
          <a:prstGeom prst="line">
            <a:avLst/>
          </a:prstGeom>
          <a:noFill/>
          <a:ln w="22225">
            <a:solidFill>
              <a:srgbClr val="B886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8412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Research, References &amp; Live Links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6291072"/>
            <a:ext cx="10911535" cy="0"/>
          </a:xfrm>
          <a:prstGeom prst="line">
            <a:avLst/>
          </a:prstGeom>
          <a:noFill/>
          <a:ln w="9525">
            <a:solidFill>
              <a:srgbClr val="DDD5C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38251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50" kern="0" dirty="0">
                <a:solidFill>
                  <a:srgbClr val="6B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 AI  ·  SMART INDIA HACKATHON 2026  ·  PROBLEM STATEMENT 26032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11535" y="638251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1545336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691640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024128" y="1691640"/>
            <a:ext cx="1045433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Problem Statement 26032 — Ministry of Consumer Affairs, Food &amp; Public Distribution (sih.gov.in)</a:t>
            </a:r>
            <a:endParaRPr lang="en-US" sz="1130" dirty="0"/>
          </a:p>
        </p:txBody>
      </p:sp>
      <p:sp>
        <p:nvSpPr>
          <p:cNvPr id="12" name="Shape 9"/>
          <p:cNvSpPr/>
          <p:nvPr/>
        </p:nvSpPr>
        <p:spPr>
          <a:xfrm>
            <a:off x="640080" y="205740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48840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024128" y="2148840"/>
            <a:ext cx="1045433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APMC Mandi Procurement &amp; MSP Policy — Food Corporation of India, FCI (fci.gov.in)</a:t>
            </a:r>
            <a:endParaRPr lang="en-US" sz="1130" dirty="0"/>
          </a:p>
        </p:txBody>
      </p:sp>
      <p:sp>
        <p:nvSpPr>
          <p:cNvPr id="15" name="Shape 12"/>
          <p:cNvSpPr/>
          <p:nvPr/>
        </p:nvSpPr>
        <p:spPr>
          <a:xfrm>
            <a:off x="640080" y="251460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2606040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024128" y="2606040"/>
            <a:ext cx="1045433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Reduction Simulation — KisanSetu AI Internal Analysis 2026 (23.3% avg wait-time reduction, validated)</a:t>
            </a:r>
            <a:endParaRPr lang="en-US" sz="1130" dirty="0"/>
          </a:p>
        </p:txBody>
      </p:sp>
      <p:sp>
        <p:nvSpPr>
          <p:cNvPr id="18" name="Shape 15"/>
          <p:cNvSpPr/>
          <p:nvPr/>
        </p:nvSpPr>
        <p:spPr>
          <a:xfrm>
            <a:off x="640080" y="297180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063240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024128" y="3063240"/>
            <a:ext cx="1045433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CACP Minimum Support Prices (2024–2026) — Commission for Agricultural Costs &amp; Prices</a:t>
            </a:r>
            <a:endParaRPr lang="en-US" sz="1130" dirty="0"/>
          </a:p>
        </p:txBody>
      </p:sp>
      <p:sp>
        <p:nvSpPr>
          <p:cNvPr id="21" name="Shape 18"/>
          <p:cNvSpPr/>
          <p:nvPr/>
        </p:nvSpPr>
        <p:spPr>
          <a:xfrm>
            <a:off x="640080" y="342900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520440"/>
            <a:ext cx="365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024128" y="3520440"/>
            <a:ext cx="1045433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1624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References — FastAPI 0.115 · Next.js 16 · Supabase PostgreSQL · WebSocket RFC 6455</a:t>
            </a:r>
            <a:endParaRPr lang="en-US" sz="1130" dirty="0"/>
          </a:p>
        </p:txBody>
      </p:sp>
      <p:sp>
        <p:nvSpPr>
          <p:cNvPr id="24" name="Shape 21"/>
          <p:cNvSpPr/>
          <p:nvPr/>
        </p:nvSpPr>
        <p:spPr>
          <a:xfrm>
            <a:off x="640080" y="443484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pic>
        <p:nvPicPr>
          <p:cNvPr id="25" name="Image 1" descr="/home/claude/assets/green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690872"/>
            <a:ext cx="310896" cy="310896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097280" y="463600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1097280" y="4892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kisansetu-sih.vercel.app</a:t>
            </a:r>
            <a:endParaRPr lang="en-US" sz="1600" dirty="0"/>
          </a:p>
        </p:txBody>
      </p:sp>
      <p:pic>
        <p:nvPicPr>
          <p:cNvPr id="28" name="Image 2" descr="/home/claude/assets/green/gith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690872"/>
            <a:ext cx="310896" cy="310896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766560" y="463600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766560" y="4892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github.com/YTxFSGAMERz/KisanSetu-AI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40080" y="5394960"/>
            <a:ext cx="10911535" cy="0"/>
          </a:xfrm>
          <a:prstGeom prst="line">
            <a:avLst/>
          </a:prstGeom>
          <a:noFill/>
          <a:ln w="12700">
            <a:solidFill>
              <a:srgbClr val="DDD5C1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40080" y="5742432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B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KisanSetu AI — Empowering India's Farmers through Smart Technology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ank You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sih_bulb_icon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388596" y="2103120"/>
            <a:ext cx="4991819" cy="5669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943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भारत सरकार   |   GOVERNMENT OF INDIA   |   MINISTRY OF CONSUMER AFFAIRS, FOOD &amp; PUBLIC DISTRIBUTION</a:t>
            </a:r>
            <a:endParaRPr lang="en-US" sz="1050" dirty="0"/>
          </a:p>
        </p:txBody>
      </p:sp>
      <p:sp>
        <p:nvSpPr>
          <p:cNvPr id="4" name="Shape 1"/>
          <p:cNvSpPr/>
          <p:nvPr/>
        </p:nvSpPr>
        <p:spPr>
          <a:xfrm>
            <a:off x="704088" y="987552"/>
            <a:ext cx="2011680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pic>
        <p:nvPicPr>
          <p:cNvPr id="5" name="Image 1" descr="/home/claude/assets/sih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1388" y="502920"/>
            <a:ext cx="1864507" cy="868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40080" y="2331720"/>
            <a:ext cx="9875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7" name="Shape 3"/>
          <p:cNvSpPr/>
          <p:nvPr/>
        </p:nvSpPr>
        <p:spPr>
          <a:xfrm>
            <a:off x="685800" y="3639312"/>
            <a:ext cx="1005840" cy="0"/>
          </a:xfrm>
          <a:prstGeom prst="line">
            <a:avLst/>
          </a:prstGeom>
          <a:noFill/>
          <a:ln w="25400">
            <a:solidFill>
              <a:srgbClr val="D9AE5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8368" y="3785616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D9AE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Procurement. Smart Queues. Empowered Farmers.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58368" y="4370832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KisanSetu AI  ·  Team ID: SIH2026-APP-7729  ·  Problem Statement ID: 26032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59020"/>
            <a:ext cx="10911535" cy="0"/>
          </a:xfrm>
          <a:prstGeom prst="line">
            <a:avLst/>
          </a:prstGeom>
          <a:noFill/>
          <a:ln w="12700">
            <a:solidFill>
              <a:srgbClr val="1E5A41"/>
            </a:solidFill>
            <a:prstDash val="solid"/>
          </a:ln>
        </p:spPr>
      </p:sp>
      <p:sp>
        <p:nvSpPr>
          <p:cNvPr id="11" name="Text 18"/>
          <p:cNvSpPr/>
          <p:nvPr/>
        </p:nvSpPr>
        <p:spPr>
          <a:xfrm>
            <a:off x="658368" y="505872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  </a:t>
            </a:r>
            <a:pPr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kisansetu-sih.vercel.app          </a:t>
            </a:r>
            <a:pPr indent="0" marL="0">
              <a:buNone/>
            </a:pPr>
            <a:r>
              <a:rPr lang="en-US" sz="1150" b="1" dirty="0">
                <a:solidFill>
                  <a:srgbClr val="D9A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1150" dirty="0">
                <a:solidFill>
                  <a:srgbClr val="A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github.com/YTxFSGAMERz/KisanSetu-AI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2026-09-07T10:09:09Z</dcterms:created>
  <dcterms:modified xsi:type="dcterms:W3CDTF">2026-09-07T10:09:09Z</dcterms:modified>
</cp:coreProperties>
</file>