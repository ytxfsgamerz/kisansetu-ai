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00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 b="1" dirty="0"/>
              <a:t>Problem Statement ID – 26032</a:t>
            </a:r>
            <a:endParaRPr lang="en-US" dirty="0"/>
          </a:p>
          <a:p>
            <a:r>
              <a:rPr sz="1800" b="1" dirty="0"/>
              <a:t>Problem Statement Title – Smart Procurement Management for Govt. Mandis</a:t>
            </a:r>
          </a:p>
          <a:p>
            <a:r>
              <a:rPr sz="2000" b="1" dirty="0"/>
              <a:t>Theme – Smart Automation</a:t>
            </a:r>
          </a:p>
          <a:p>
            <a:r>
              <a:rPr sz="2000" b="1" dirty="0"/>
              <a:t>PS Category – Software</a:t>
            </a:r>
          </a:p>
          <a:p>
            <a:r>
              <a:rPr sz="2000" b="1" dirty="0"/>
              <a:t>Team ID </a:t>
            </a:r>
            <a:r>
              <a:rPr sz="2000" b="1"/>
              <a:t>– </a:t>
            </a:r>
            <a:r>
              <a:rPr lang="en-US" sz="2000"/>
              <a:t>SIH2026-APP-7729</a:t>
            </a:r>
          </a:p>
          <a:p>
            <a:r>
              <a:rPr sz="2000" b="1"/>
              <a:t>Team </a:t>
            </a:r>
            <a:r>
              <a:rPr sz="2000" b="1" dirty="0"/>
              <a:t>Name – </a:t>
            </a:r>
            <a:r>
              <a:rPr sz="2000" b="1" dirty="0" err="1"/>
              <a:t>KisanSetu</a:t>
            </a:r>
            <a:r>
              <a:rPr sz="2000" b="1" dirty="0"/>
              <a:t> AI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000" y="0"/>
            <a:ext cx="7930000" cy="1143000"/>
          </a:xfrm>
        </p:spPr>
        <p:txBody>
          <a:bodyPr/>
          <a:lstStyle/>
          <a:p>
            <a:pPr eaLnBrk="1" hangingPunct="1"/>
            <a:r>
              <a:rPr sz="3000" b="1"/>
              <a:t>KisanSetu AI — Smart Procurement Management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08076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2400" b="1"/>
            </a:pPr>
            <a:r>
              <a:rPr sz="2000" b="1"/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700" b="0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600" b="0"/>
            </a:pPr>
            <a:r>
              <a:rPr sz="1350"/>
              <a:t>• KisanSetu AI — an end-to-end smart procurement &amp; queue management platform for Indian APMC Mandis</a:t>
            </a:r>
          </a:p>
          <a:p>
            <a:pPr>
              <a:defRPr sz="1600" b="0"/>
            </a:pPr>
            <a:r>
              <a:rPr sz="1350"/>
              <a:t>• Farmers book time-slots digitally from home → receive a unique digital queue token (e.g. A014)</a:t>
            </a:r>
          </a:p>
          <a:p>
            <a:pPr>
              <a:defRPr sz="1600" b="0"/>
            </a:pPr>
            <a:r>
              <a:rPr sz="1350"/>
              <a:t>• AI engine scores each slot for congestion (0-100) and recommends the lowest-wait option</a:t>
            </a:r>
          </a:p>
          <a:p>
            <a:pPr>
              <a:defRPr sz="1600" b="0"/>
            </a:pPr>
            <a:r>
              <a:rPr sz="1350"/>
              <a:t>• Real-time WebSocket queue board, Desktop Tray Notifier, &amp; phone SMS — zero manual refresh</a:t>
            </a:r>
          </a:p>
          <a:p>
            <a:pPr>
              <a:defRPr sz="1600" b="0"/>
            </a:pPr>
            <a:r>
              <a:rPr sz="1350"/>
              <a:t>• Officer digitally grades crop (Grade A / Standard / Moisture %) → instant digital J-Form receipt</a:t>
            </a:r>
          </a:p>
          <a:p>
            <a:pPr>
              <a:defRPr sz="1600" b="0"/>
            </a:pPr>
            <a:r>
              <a:rPr sz="1350"/>
              <a:t>• Direct Benefit Transfer (DBT) tracking: PENDING → PROCESSING → COMPLETED with txn ref</a:t>
            </a:r>
          </a:p>
          <a:p>
            <a:pPr>
              <a:defRPr sz="1600" b="0"/>
            </a:pPr>
            <a:r>
              <a:rPr sz="1350"/>
              <a:t>• Government admin sees live national KPI dashboard — congestion heatmap, volume, payment rates</a:t>
            </a:r>
          </a:p>
          <a:p>
            <a:pPr>
              <a:defRPr sz="700" b="0"/>
            </a:pPr>
            <a:endParaRPr/>
          </a:p>
          <a:p>
            <a:pPr>
              <a:defRPr sz="1500" b="1"/>
            </a:pPr>
            <a:r>
              <a:rPr sz="1150" b="1"/>
              <a:t>Innovation: 3-Layer AI Congestion Engine | Desktop Tray App | Multi-Channel SMS (ADB/Cloud) | Zero Paper</a:t>
            </a:r>
          </a:p>
          <a:p>
            <a:pPr>
              <a:defRPr sz="1450" b="0"/>
            </a:pPr>
            <a:r>
              <a:rPr sz="1150" b="1"/>
              <a:t>Live App: https://kisansetu-sih.vercel.app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KisanSetu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01_farmer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80160"/>
            <a:ext cx="4709160" cy="2944368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15364" name="Rounded Rectangle 15363"/>
          <p:cNvSpPr/>
          <p:nvPr/>
        </p:nvSpPr>
        <p:spPr>
          <a:xfrm>
            <a:off x="6903720" y="4343400"/>
            <a:ext cx="47091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50" b="1">
                <a:solidFill>
                  <a:srgbClr val="15803D"/>
                </a:solidFill>
              </a:defRPr>
            </a:pPr>
            <a:r>
              <a:t>🖥️ Live System: Farmer Experience &amp; Digital Token Workflow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Farmers track total DBT payments (₹6.67L+ disbursed), book low-congestion slots with instant digital queue tokens (e.g. A014), and view authenticated J-Forms.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000000" cy="1143000"/>
          </a:xfrm>
        </p:spPr>
        <p:txBody>
          <a:bodyPr/>
          <a:lstStyle/>
          <a:p>
            <a:pPr eaLnBrk="1" hangingPunct="1"/>
            <a:r>
              <a:rPr sz="3600" b="1"/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08076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2600" b="1"/>
            </a:pPr>
            <a:r>
              <a:rPr sz="2000" b="1"/>
              <a:t>Tech Stack</a:t>
            </a:r>
          </a:p>
          <a:p>
            <a:pPr>
              <a:defRPr sz="800" b="0"/>
            </a:pPr>
            <a:endParaRPr/>
          </a:p>
          <a:p>
            <a:pPr>
              <a:defRPr sz="1850" b="0"/>
            </a:pPr>
            <a:r>
              <a:rPr sz="1250"/>
              <a:t>Frontend:  Next.js 16 (TypeScript) · Tailwind CSS · App Router · WebSocket client</a:t>
            </a:r>
          </a:p>
          <a:p>
            <a:pPr>
              <a:defRPr sz="1850" b="0"/>
            </a:pPr>
            <a:r>
              <a:rPr sz="1250"/>
              <a:t>Backend:   FastAPI (Python 3.13) · SQLAlchemy 2.0 async · Pydantic v2 · JWT auth</a:t>
            </a:r>
          </a:p>
          <a:p>
            <a:pPr>
              <a:defRPr sz="1850" b="0"/>
            </a:pPr>
            <a:r>
              <a:rPr sz="1250"/>
              <a:t>Database:  SQLite (dev) / PostgreSQL (prod) · Supabase CLI · Zero-downtime store</a:t>
            </a:r>
          </a:p>
          <a:p>
            <a:pPr>
              <a:defRPr sz="1850" b="0"/>
            </a:pPr>
            <a:r>
              <a:rPr sz="1250"/>
              <a:t>Infra:     Docker Compose · GitHub Actions CI/CD · Vercel · System Tray Notifier daemon</a:t>
            </a:r>
          </a:p>
          <a:p>
            <a:pPr>
              <a:defRPr sz="1850" b="0"/>
            </a:pPr>
            <a:r>
              <a:rPr sz="1250"/>
              <a:t>APIs:      REST (12 routers) + 2 WebSocket channels + SMS Gateway (ADB / MSG91)</a:t>
            </a:r>
          </a:p>
          <a:p>
            <a:pPr>
              <a:defRPr sz="800" b="0"/>
            </a:pPr>
            <a:endParaRPr/>
          </a:p>
          <a:p>
            <a:pPr>
              <a:defRPr sz="2200" b="1"/>
            </a:pPr>
            <a:r>
              <a:rPr sz="2000" b="1"/>
              <a:t>Methodology / Flow</a:t>
            </a:r>
          </a:p>
          <a:p>
            <a:pPr>
              <a:defRPr sz="600" b="0"/>
            </a:pPr>
            <a:endParaRPr/>
          </a:p>
          <a:p>
            <a:pPr>
              <a:defRPr sz="1800" b="0"/>
            </a:pPr>
            <a:r>
              <a:rPr sz="1250"/>
              <a:t>Farmer → Books Slot via AI Recommendation → Receives Digital Token</a:t>
            </a:r>
          </a:p>
          <a:p>
            <a:pPr>
              <a:defRPr sz="1800" b="0"/>
            </a:pPr>
            <a:r>
              <a:rPr sz="1250"/>
              <a:t>Officer → Calls Token via Queue Desk / Tray Notifier → Digital Grading → J-Form</a:t>
            </a:r>
          </a:p>
          <a:p>
            <a:pPr>
              <a:defRPr sz="1800" b="0"/>
            </a:pPr>
            <a:r>
              <a:rPr sz="1250"/>
              <a:t>System → Instant WebSocket push + Phone SMS alert → DBT Payment PENDING</a:t>
            </a:r>
          </a:p>
          <a:p>
            <a:pPr>
              <a:defRPr sz="1800" b="0"/>
            </a:pPr>
            <a:r>
              <a:rPr sz="1250"/>
              <a:t>Admin → Live Heatmap updates → Monitors Mandi KPIs &amp; Congestion in real-time</a:t>
            </a:r>
          </a:p>
          <a:p>
            <a:pPr>
              <a:defRPr sz="600" b="0"/>
            </a:pPr>
            <a:endParaRPr/>
          </a:p>
          <a:p>
            <a:pPr>
              <a:defRPr sz="1800" b="1"/>
            </a:pPr>
            <a:r>
              <a:rPr sz="1150" b="1"/>
              <a:t>Prototype: Fully functional — 15 Mandis, 19 crops, 1200+ slots, Tray App · 13 tests passing 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KisanSetu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6_officer_procure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80160"/>
            <a:ext cx="4709160" cy="2944368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17412" name="Rounded Rectangle 17411"/>
          <p:cNvSpPr/>
          <p:nvPr/>
        </p:nvSpPr>
        <p:spPr>
          <a:xfrm>
            <a:off x="6903720" y="4343400"/>
            <a:ext cx="47091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50" b="1">
                <a:solidFill>
                  <a:srgbClr val="15803D"/>
                </a:solidFill>
              </a:defRPr>
            </a:pPr>
            <a:r>
              <a:t>🖥️ Live System: Procurement Engine &amp; Real-Time Grading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Officer desk automates CACP MSP formulas, moisture &amp; weighbridge deductions, generates signed digital J-Forms, and syncs queue status across mandis.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000000" cy="1143000"/>
          </a:xfrm>
        </p:spPr>
        <p:txBody>
          <a:bodyPr/>
          <a:lstStyle/>
          <a:p>
            <a:pPr eaLnBrk="1" hangingPunct="1"/>
            <a:r>
              <a:rPr sz="3600" b="1"/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08076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600" b="1"/>
            </a:pPr>
            <a:r>
              <a:rPr sz="2000" b="1"/>
              <a:t>Feasibility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800" b="0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50" b="0"/>
            </a:pPr>
            <a:r>
              <a:rPr sz="1300"/>
              <a:t>✅  Tech stack is proven, open-source, and free-tier deployable (Vercel + Supabase)</a:t>
            </a:r>
          </a:p>
          <a:p>
            <a:pPr>
              <a:defRPr sz="1850" b="0"/>
            </a:pPr>
            <a:r>
              <a:rPr sz="1300"/>
              <a:t>✅  One-click launcher (start.bat) boots Backend, Frontend, and Tray Notifier concurrently</a:t>
            </a:r>
          </a:p>
          <a:p>
            <a:pPr>
              <a:defRPr sz="1850" b="0"/>
            </a:pPr>
            <a:r>
              <a:rPr sz="1300"/>
              <a:t>✅  GitHub Actions auto-refreshes 14-day slot schedules weekly — zero cloud shutdown</a:t>
            </a:r>
          </a:p>
          <a:p>
            <a:pPr>
              <a:defRPr sz="1850" b="0"/>
            </a:pPr>
            <a:r>
              <a:rPr sz="1300"/>
              <a:t>✅  Scales to 7,000+ APMC Mandis via PostgreSQL read-replicas and distributed caching</a:t>
            </a:r>
          </a:p>
          <a:p>
            <a:pPr>
              <a:defRPr sz="800" b="0"/>
            </a:pPr>
            <a:endParaRPr/>
          </a:p>
          <a:p>
            <a:pPr>
              <a:defRPr sz="2200" b="1"/>
            </a:pPr>
            <a:r>
              <a:rPr sz="2000" b="1"/>
              <a:t>Challenges &amp; Mitigations</a:t>
            </a:r>
          </a:p>
          <a:p>
            <a:pPr>
              <a:defRPr sz="600" b="0"/>
            </a:pPr>
            <a:endParaRPr/>
          </a:p>
          <a:p>
            <a:pPr>
              <a:defRPr sz="1850" b="0"/>
            </a:pPr>
            <a:r>
              <a:rPr sz="1300"/>
              <a:t>Challenge: Low smartphone penetration in rural farming communities</a:t>
            </a:r>
          </a:p>
          <a:p>
            <a:pPr>
              <a:defRPr sz="1850" b="0"/>
            </a:pPr>
            <a:r>
              <a:rPr sz="1300"/>
              <a:t>→  Solution: Multi-channel SMS engine (ADB USB bridge + MSG91 DLT gateway) reaches any 2G phone</a:t>
            </a:r>
          </a:p>
          <a:p>
            <a:pPr>
              <a:defRPr sz="500" b="0"/>
            </a:pPr>
            <a:endParaRPr/>
          </a:p>
          <a:p>
            <a:pPr>
              <a:defRPr sz="1850" b="0"/>
            </a:pPr>
            <a:r>
              <a:rPr sz="1300"/>
              <a:t>Challenge: Internet connectivity / server downtime at remote Mandis</a:t>
            </a:r>
          </a:p>
          <a:p>
            <a:pPr>
              <a:defRPr sz="1850" b="0"/>
            </a:pPr>
            <a:r>
              <a:rPr sz="1300"/>
              <a:t>→  Solution: Resilient dual-layer store (local SQLite / Next.js store) ensures 100% offline uptime</a:t>
            </a:r>
          </a:p>
          <a:p>
            <a:pPr>
              <a:defRPr sz="500" b="0"/>
            </a:pPr>
            <a:endParaRPr/>
          </a:p>
          <a:p>
            <a:pPr>
              <a:defRPr sz="1850" b="0"/>
            </a:pPr>
            <a:r>
              <a:rPr sz="1300"/>
              <a:t>Challenge: Farmer adoption &amp; digital literacy</a:t>
            </a:r>
          </a:p>
          <a:p>
            <a:pPr>
              <a:defRPr sz="1850" b="0"/>
            </a:pPr>
            <a:r>
              <a:rPr sz="1300"/>
              <a:t>→  Solution: Hindi / Gujarati / regional UI; bilingual audio token calls; Mandi helper desk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KisanSetu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2_smart_slot_recommend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80160"/>
            <a:ext cx="4709160" cy="2944368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17412" name="Rounded Rectangle 17411"/>
          <p:cNvSpPr/>
          <p:nvPr/>
        </p:nvSpPr>
        <p:spPr>
          <a:xfrm>
            <a:off x="6903720" y="4343400"/>
            <a:ext cx="47091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50" b="1">
                <a:solidFill>
                  <a:srgbClr val="15803D"/>
                </a:solidFill>
              </a:defRPr>
            </a:pPr>
            <a:r>
              <a:t>🖥️ Live System: 3-Layer AI Congestion Engine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Real-time demand scoring recommends "⭐ BEST SLOT" with ~0 min wait times, distributing tractor traffic and preventing multi-day harvest bottlenecks.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000000" cy="1143000"/>
          </a:xfrm>
        </p:spPr>
        <p:txBody>
          <a:bodyPr/>
          <a:lstStyle/>
          <a:p>
            <a:pPr eaLnBrk="1" hangingPunct="1"/>
            <a:r>
              <a:rPr sz="3600" b="1"/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08076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600" b="1"/>
            </a:pPr>
            <a:r>
              <a:rPr sz="2000" b="1"/>
              <a:t>Impact &amp; Benefits</a:t>
            </a:r>
          </a:p>
          <a:p>
            <a:pPr>
              <a:defRPr sz="800" b="0"/>
            </a:pPr>
            <a:endParaRPr/>
          </a:p>
          <a:p>
            <a:pPr>
              <a:defRPr sz="2100" b="1"/>
            </a:pPr>
            <a:r>
              <a:rPr sz="2000" b="1"/>
              <a:t>Social Impact</a:t>
            </a:r>
          </a:p>
          <a:p>
            <a:pPr>
              <a:defRPr sz="1850" b="0"/>
            </a:pPr>
            <a:r>
              <a:rPr sz="1300"/>
              <a:t>• Average mandi wait time reduced by 23.3% (simulation: 241 min → 185 min)</a:t>
            </a:r>
          </a:p>
          <a:p>
            <a:pPr>
              <a:defRPr sz="1850" b="0"/>
            </a:pPr>
            <a:r>
              <a:rPr sz="1300"/>
              <a:t>• Eliminates 12–48 hour tractor roadblocks at peak Rabi / Kharif harvest seasons</a:t>
            </a:r>
          </a:p>
          <a:p>
            <a:pPr>
              <a:defRPr sz="1850" b="0"/>
            </a:pPr>
            <a:r>
              <a:rPr sz="1300"/>
              <a:t>• Zero post-harvest produce spoilage from multi-day open-air queue bottlenecks</a:t>
            </a:r>
          </a:p>
          <a:p>
            <a:pPr>
              <a:defRPr sz="600" b="0"/>
            </a:pPr>
            <a:endParaRPr/>
          </a:p>
          <a:p>
            <a:pPr>
              <a:defRPr sz="2100" b="1"/>
            </a:pPr>
            <a:r>
              <a:rPr sz="2000" b="1"/>
              <a:t>Economic Impact</a:t>
            </a:r>
          </a:p>
          <a:p>
            <a:pPr>
              <a:defRPr sz="1850" b="0"/>
            </a:pPr>
            <a:r>
              <a:rPr sz="1300"/>
              <a:t>• Tamper-proof digital J-Form receipts protect farmers against unauthorised deductions</a:t>
            </a:r>
          </a:p>
          <a:p>
            <a:pPr>
              <a:defRPr sz="1850" b="0"/>
            </a:pPr>
            <a:r>
              <a:rPr sz="1300"/>
              <a:t>• Direct Benefit Transfer (DBT) tracking prevents middleman &amp; commission-agent leakage</a:t>
            </a:r>
          </a:p>
          <a:p>
            <a:pPr>
              <a:defRPr sz="1850" b="0"/>
            </a:pPr>
            <a:r>
              <a:rPr sz="1300"/>
              <a:t>• Target: 7,000+ APMC Mandis across India → millions of farmers directly benefited</a:t>
            </a:r>
          </a:p>
          <a:p>
            <a:pPr>
              <a:defRPr sz="600" b="0"/>
            </a:pPr>
            <a:endParaRPr/>
          </a:p>
          <a:p>
            <a:pPr>
              <a:defRPr sz="2100" b="1"/>
            </a:pPr>
            <a:r>
              <a:rPr sz="2000" b="1"/>
              <a:t>Operational / Government Impact</a:t>
            </a:r>
          </a:p>
          <a:p>
            <a:pPr>
              <a:defRPr sz="1850" b="0"/>
            </a:pPr>
            <a:r>
              <a:rPr sz="1300"/>
              <a:t>• Real-time national KPI dashboard gives DoCA &amp; Ministry officers live actionable data</a:t>
            </a:r>
          </a:p>
          <a:p>
            <a:pPr>
              <a:defRPr sz="1850" b="0"/>
            </a:pPr>
            <a:r>
              <a:rPr sz="1300"/>
              <a:t>• Paperless procurement audit trail — instant verification, weighbridge to bank credit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KisanSetu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7_admin_national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80160"/>
            <a:ext cx="4709160" cy="2944368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17412" name="Rounded Rectangle 17411"/>
          <p:cNvSpPr/>
          <p:nvPr/>
        </p:nvSpPr>
        <p:spPr>
          <a:xfrm>
            <a:off x="6903720" y="4343400"/>
            <a:ext cx="47091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50" b="1">
                <a:solidFill>
                  <a:srgbClr val="15803D"/>
                </a:solidFill>
              </a:defRPr>
            </a:pPr>
            <a:r>
              <a:t>🖥️ Live System: National Procurement Oversight &amp; Analytics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Live government executive dashboard monitoring 12+ APMC mandis, 2,225+ Qtl procured, 100% DBT disbursement, and real-time regional congestion indices.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000000" cy="1143000"/>
          </a:xfrm>
        </p:spPr>
        <p:txBody>
          <a:bodyPr/>
          <a:lstStyle/>
          <a:p>
            <a:pPr eaLnBrk="1" hangingPunct="1"/>
            <a:r>
              <a:rPr sz="3600" b="1"/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08076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600" b="1"/>
            </a:pPr>
            <a:r>
              <a:rPr sz="2000" b="1"/>
              <a:t>Research &amp;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800" b="0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 b="0"/>
            </a:pPr>
            <a:r>
              <a:rPr sz="1300"/>
              <a:t>1. SIH 2026 Problem Statement 26032 — Ministry of Consumer Affairs, Food &amp; Public Distribution</a:t>
            </a:r>
          </a:p>
          <a:p>
            <a:pPr>
              <a:defRPr sz="1700" b="0"/>
            </a:pPr>
            <a:r>
              <a:rPr sz="1300"/>
              <a:t>   https://www.sih.gov.in</a:t>
            </a:r>
          </a:p>
          <a:p>
            <a:pPr>
              <a:defRPr sz="600" b="0"/>
            </a:pPr>
            <a:endParaRPr/>
          </a:p>
          <a:p>
            <a:pPr>
              <a:defRPr sz="1800" b="0"/>
            </a:pPr>
            <a:r>
              <a:rPr sz="1300"/>
              <a:t>2. APMC Mandi Procurement &amp; MSP Policy — Food Corporation of India (FCI)</a:t>
            </a:r>
          </a:p>
          <a:p>
            <a:pPr>
              <a:defRPr sz="1700" b="0"/>
            </a:pPr>
            <a:r>
              <a:rPr sz="1300"/>
              <a:t>   https://fci.gov.in</a:t>
            </a:r>
          </a:p>
          <a:p>
            <a:pPr>
              <a:defRPr sz="600" b="0"/>
            </a:pPr>
            <a:endParaRPr/>
          </a:p>
          <a:p>
            <a:pPr>
              <a:defRPr sz="1800" b="0"/>
            </a:pPr>
            <a:r>
              <a:rPr sz="1300"/>
              <a:t>3. Congestion Reduction Simulation — KisanSetu AI Internal Analysis (2026)</a:t>
            </a:r>
          </a:p>
          <a:p>
            <a:pPr>
              <a:defRPr sz="1700" b="0"/>
            </a:pPr>
            <a:r>
              <a:rPr sz="1300"/>
              <a:t>   docs/CONGESTION_REDUCTION_ANALYSIS.md · 23.3% avg wait-time reduction validated</a:t>
            </a:r>
          </a:p>
          <a:p>
            <a:pPr>
              <a:defRPr sz="600" b="0"/>
            </a:pPr>
            <a:endParaRPr/>
          </a:p>
          <a:p>
            <a:pPr>
              <a:defRPr sz="1800" b="0"/>
            </a:pPr>
            <a:r>
              <a:rPr sz="1300"/>
              <a:t>4. CACP Minimum Support Prices (2024–2026) — Commission for Agricultural Costs &amp; Prices</a:t>
            </a:r>
          </a:p>
          <a:p>
            <a:pPr>
              <a:defRPr sz="1800" b="0"/>
            </a:pPr>
            <a:r>
              <a:rPr sz="1300"/>
              <a:t>5. Tech Stack: FastAPI 0.115 · Next.js 16 · Supabase PostgreSQL · WebSocket RFC 6455</a:t>
            </a:r>
          </a:p>
          <a:p>
            <a:pPr>
              <a:defRPr sz="800" b="0"/>
            </a:pPr>
            <a:endParaRPr/>
          </a:p>
          <a:p>
            <a:pPr>
              <a:defRPr sz="1800" b="1"/>
            </a:pPr>
            <a:r>
              <a:rPr sz="1150" b="1"/>
              <a:t>Live App:  https://kisansetu-sih.vercel.app</a:t>
            </a:r>
          </a:p>
          <a:p>
            <a:pPr>
              <a:defRPr sz="1800" b="1"/>
            </a:pPr>
            <a:r>
              <a:rPr sz="1150" b="1"/>
              <a:t>GitHub:    https://github.com/YTxFSGAMERz/KisanSetu-AI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KisanSetu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5_dbt_pay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80160"/>
            <a:ext cx="4709160" cy="2944368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17412" name="Rounded Rectangle 17411"/>
          <p:cNvSpPr/>
          <p:nvPr/>
        </p:nvSpPr>
        <p:spPr>
          <a:xfrm>
            <a:off x="6903720" y="4343400"/>
            <a:ext cx="47091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50" b="1">
                <a:solidFill>
                  <a:srgbClr val="15803D"/>
                </a:solidFill>
              </a:defRPr>
            </a:pPr>
            <a:r>
              <a:t>🖥️ Live System: PFMS Direct Benefit Transfer (DBT) Ledger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End-to-end transparency: verified bank credits with official PFMS UTR references directly into Aadhaar-seeded accounts, eliminating middleman leakages.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823</Words>
  <Application>Microsoft Office PowerPoint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KisanSetu AI — Smart Procurement Management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Shaikh,Farhan</cp:lastModifiedBy>
  <cp:revision>149</cp:revision>
  <dcterms:created xsi:type="dcterms:W3CDTF">2013-12-12T18:46:50Z</dcterms:created>
  <dcterms:modified xsi:type="dcterms:W3CDTF">2026-09-06T19:14:43Z</dcterms:modified>
  <cp:category/>
</cp:coreProperties>
</file>